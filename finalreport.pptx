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74" r:id="rId2"/>
    <p:sldId id="256" r:id="rId3"/>
    <p:sldId id="257" r:id="rId4"/>
    <p:sldId id="259" r:id="rId5"/>
    <p:sldId id="260" r:id="rId6"/>
    <p:sldId id="261" r:id="rId7"/>
    <p:sldId id="262" r:id="rId8"/>
    <p:sldId id="263" r:id="rId9"/>
    <p:sldId id="264" r:id="rId10"/>
    <p:sldId id="265" r:id="rId11"/>
    <p:sldId id="266" r:id="rId12"/>
    <p:sldId id="267" r:id="rId13"/>
    <p:sldId id="272" r:id="rId14"/>
  </p:sldIdLst>
  <p:sldSz cx="7772400" cy="10058400"/>
  <p:notesSz cx="7772400" cy="10058400"/>
  <p:defaultTextStyle>
    <a:defPPr>
      <a:defRPr kern="0"/>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24" autoAdjust="0"/>
  </p:normalViewPr>
  <p:slideViewPr>
    <p:cSldViewPr>
      <p:cViewPr>
        <p:scale>
          <a:sx n="50" d="100"/>
          <a:sy n="50" d="100"/>
        </p:scale>
        <p:origin x="-2172" y="192"/>
      </p:cViewPr>
      <p:guideLst>
        <p:guide orient="horz" pos="2880"/>
        <p:guide pos="2160"/>
      </p:guideLst>
    </p:cSldViewPr>
  </p:slideViewPr>
  <p:outlineViewPr>
    <p:cViewPr>
      <p:scale>
        <a:sx n="33" d="100"/>
        <a:sy n="33" d="100"/>
      </p:scale>
      <p:origin x="0" y="0"/>
    </p:cViewPr>
  </p:outlin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582931" y="3118105"/>
            <a:ext cx="6606540"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165860" y="5632705"/>
            <a:ext cx="544068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11/28/2025</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Times New Roman"/>
                <a:cs typeface="Times New Roman"/>
              </a:defRPr>
            </a:lvl1pPr>
          </a:lstStyle>
          <a:p>
            <a:pPr marL="62230">
              <a:lnSpc>
                <a:spcPct val="100000"/>
              </a:lnSpc>
              <a:spcBef>
                <a:spcPts val="240"/>
              </a:spcBef>
            </a:pPr>
            <a:fld id="{81D60167-4931-47E6-BA6A-407CBD079E47}" type="slidenum">
              <a:rPr spc="-25" dirty="0"/>
              <a:pPr marL="62230">
                <a:lnSpc>
                  <a:spcPct val="100000"/>
                </a:lnSpc>
                <a:spcBef>
                  <a:spcPts val="240"/>
                </a:spcBef>
              </a:pPr>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11/28/2025</a:t>
            </a:fld>
            <a:endParaRPr lang="en-US"/>
          </a:p>
        </p:txBody>
      </p:sp>
      <p:sp>
        <p:nvSpPr>
          <p:cNvPr id="6" name="Holder 6"/>
          <p:cNvSpPr>
            <a:spLocks noGrp="1"/>
          </p:cNvSpPr>
          <p:nvPr>
            <p:ph type="sldNum" sz="quarter" idx="7"/>
          </p:nvPr>
        </p:nvSpPr>
        <p:spPr/>
        <p:txBody>
          <a:bodyPr lIns="0" tIns="0" rIns="0" bIns="0"/>
          <a:lstStyle>
            <a:lvl1pPr>
              <a:defRPr sz="1000" b="0" i="0">
                <a:solidFill>
                  <a:schemeClr val="tx1"/>
                </a:solidFill>
                <a:latin typeface="Times New Roman"/>
                <a:cs typeface="Times New Roman"/>
              </a:defRPr>
            </a:lvl1pPr>
          </a:lstStyle>
          <a:p>
            <a:pPr marL="62230">
              <a:lnSpc>
                <a:spcPct val="100000"/>
              </a:lnSpc>
              <a:spcBef>
                <a:spcPts val="240"/>
              </a:spcBef>
            </a:pPr>
            <a:fld id="{81D60167-4931-47E6-BA6A-407CBD079E47}" type="slidenum">
              <a:rPr spc="-25" dirty="0"/>
              <a:pPr marL="62230">
                <a:lnSpc>
                  <a:spcPct val="100000"/>
                </a:lnSpc>
                <a:spcBef>
                  <a:spcPts val="240"/>
                </a:spcBef>
              </a:pPr>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388620" y="2313433"/>
            <a:ext cx="3380995"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002785" y="2313433"/>
            <a:ext cx="3380995"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11/28/2025</a:t>
            </a:fld>
            <a:endParaRPr lang="en-US"/>
          </a:p>
        </p:txBody>
      </p:sp>
      <p:sp>
        <p:nvSpPr>
          <p:cNvPr id="7" name="Holder 7"/>
          <p:cNvSpPr>
            <a:spLocks noGrp="1"/>
          </p:cNvSpPr>
          <p:nvPr>
            <p:ph type="sldNum" sz="quarter" idx="7"/>
          </p:nvPr>
        </p:nvSpPr>
        <p:spPr/>
        <p:txBody>
          <a:bodyPr lIns="0" tIns="0" rIns="0" bIns="0"/>
          <a:lstStyle>
            <a:lvl1pPr>
              <a:defRPr sz="1000" b="0" i="0">
                <a:solidFill>
                  <a:schemeClr val="tx1"/>
                </a:solidFill>
                <a:latin typeface="Times New Roman"/>
                <a:cs typeface="Times New Roman"/>
              </a:defRPr>
            </a:lvl1pPr>
          </a:lstStyle>
          <a:p>
            <a:pPr marL="62230">
              <a:lnSpc>
                <a:spcPct val="100000"/>
              </a:lnSpc>
              <a:spcBef>
                <a:spcPts val="240"/>
              </a:spcBef>
            </a:pPr>
            <a:fld id="{81D60167-4931-47E6-BA6A-407CBD079E47}" type="slidenum">
              <a:rPr spc="-25" dirty="0"/>
              <a:pPr marL="62230">
                <a:lnSpc>
                  <a:spcPct val="100000"/>
                </a:lnSpc>
                <a:spcBef>
                  <a:spcPts val="240"/>
                </a:spcBef>
              </a:pPr>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11/28/2025</a:t>
            </a:fld>
            <a:endParaRPr lang="en-US"/>
          </a:p>
        </p:txBody>
      </p:sp>
      <p:sp>
        <p:nvSpPr>
          <p:cNvPr id="5" name="Holder 5"/>
          <p:cNvSpPr>
            <a:spLocks noGrp="1"/>
          </p:cNvSpPr>
          <p:nvPr>
            <p:ph type="sldNum" sz="quarter" idx="7"/>
          </p:nvPr>
        </p:nvSpPr>
        <p:spPr/>
        <p:txBody>
          <a:bodyPr lIns="0" tIns="0" rIns="0" bIns="0"/>
          <a:lstStyle>
            <a:lvl1pPr>
              <a:defRPr sz="1000" b="0" i="0">
                <a:solidFill>
                  <a:schemeClr val="tx1"/>
                </a:solidFill>
                <a:latin typeface="Times New Roman"/>
                <a:cs typeface="Times New Roman"/>
              </a:defRPr>
            </a:lvl1pPr>
          </a:lstStyle>
          <a:p>
            <a:pPr marL="62230">
              <a:lnSpc>
                <a:spcPct val="100000"/>
              </a:lnSpc>
              <a:spcBef>
                <a:spcPts val="240"/>
              </a:spcBef>
            </a:pPr>
            <a:fld id="{81D60167-4931-47E6-BA6A-407CBD079E47}" type="slidenum">
              <a:rPr spc="-25" dirty="0"/>
              <a:pPr marL="62230">
                <a:lnSpc>
                  <a:spcPct val="100000"/>
                </a:lnSpc>
                <a:spcBef>
                  <a:spcPts val="240"/>
                </a:spcBef>
              </a:pPr>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11/28/2025</a:t>
            </a:fld>
            <a:endParaRPr lang="en-US"/>
          </a:p>
        </p:txBody>
      </p:sp>
      <p:sp>
        <p:nvSpPr>
          <p:cNvPr id="4" name="Holder 4"/>
          <p:cNvSpPr>
            <a:spLocks noGrp="1"/>
          </p:cNvSpPr>
          <p:nvPr>
            <p:ph type="sldNum" sz="quarter" idx="7"/>
          </p:nvPr>
        </p:nvSpPr>
        <p:spPr/>
        <p:txBody>
          <a:bodyPr lIns="0" tIns="0" rIns="0" bIns="0"/>
          <a:lstStyle>
            <a:lvl1pPr>
              <a:defRPr sz="1000" b="0" i="0">
                <a:solidFill>
                  <a:schemeClr val="tx1"/>
                </a:solidFill>
                <a:latin typeface="Times New Roman"/>
                <a:cs typeface="Times New Roman"/>
              </a:defRPr>
            </a:lvl1pPr>
          </a:lstStyle>
          <a:p>
            <a:pPr marL="62230">
              <a:lnSpc>
                <a:spcPct val="100000"/>
              </a:lnSpc>
              <a:spcBef>
                <a:spcPts val="240"/>
              </a:spcBef>
            </a:pPr>
            <a:fld id="{81D60167-4931-47E6-BA6A-407CBD079E47}" type="slidenum">
              <a:rPr spc="-25" dirty="0"/>
              <a:pPr marL="62230">
                <a:lnSpc>
                  <a:spcPct val="100000"/>
                </a:lnSpc>
                <a:spcBef>
                  <a:spcPts val="240"/>
                </a:spcBef>
              </a:pPr>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388620" y="402337"/>
            <a:ext cx="6995160"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388620" y="2313433"/>
            <a:ext cx="699516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2642616" y="9354313"/>
            <a:ext cx="2487168" cy="276999"/>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88621" y="9354313"/>
            <a:ext cx="1787652"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11/28/2025</a:t>
            </a:fld>
            <a:endParaRPr lang="en-US"/>
          </a:p>
        </p:txBody>
      </p:sp>
      <p:sp>
        <p:nvSpPr>
          <p:cNvPr id="6" name="Holder 6"/>
          <p:cNvSpPr>
            <a:spLocks noGrp="1"/>
          </p:cNvSpPr>
          <p:nvPr>
            <p:ph type="sldNum" sz="quarter" idx="7"/>
          </p:nvPr>
        </p:nvSpPr>
        <p:spPr>
          <a:xfrm>
            <a:off x="3712465" y="9525053"/>
            <a:ext cx="283209" cy="153888"/>
          </a:xfrm>
          <a:prstGeom prst="rect">
            <a:avLst/>
          </a:prstGeom>
        </p:spPr>
        <p:txBody>
          <a:bodyPr wrap="square" lIns="0" tIns="0" rIns="0" bIns="0">
            <a:spAutoFit/>
          </a:bodyPr>
          <a:lstStyle>
            <a:lvl1pPr>
              <a:defRPr sz="1000" b="0" i="0">
                <a:solidFill>
                  <a:schemeClr val="tx1"/>
                </a:solidFill>
                <a:latin typeface="Times New Roman"/>
                <a:cs typeface="Times New Roman"/>
              </a:defRPr>
            </a:lvl1pPr>
          </a:lstStyle>
          <a:p>
            <a:pPr marL="62230">
              <a:lnSpc>
                <a:spcPct val="100000"/>
              </a:lnSpc>
              <a:spcBef>
                <a:spcPts val="240"/>
              </a:spcBef>
            </a:pPr>
            <a:fld id="{81D60167-4931-47E6-BA6A-407CBD079E47}" type="slidenum">
              <a:rPr spc="-25" dirty="0"/>
              <a:pPr marL="62230">
                <a:lnSpc>
                  <a:spcPct val="100000"/>
                </a:lnSpc>
                <a:spcBef>
                  <a:spcPts val="240"/>
                </a:spcBef>
              </a:pPr>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1302098"/>
            <a:ext cx="7772400" cy="2062103"/>
          </a:xfrm>
          <a:prstGeom prst="rect">
            <a:avLst/>
          </a:prstGeom>
          <a:noFill/>
        </p:spPr>
        <p:txBody>
          <a:bodyPr wrap="square" rtlCol="0">
            <a:spAutoFit/>
          </a:bodyPr>
          <a:lstStyle/>
          <a:p>
            <a:pPr algn="ctr"/>
            <a:r>
              <a:rPr lang="en-US" sz="3200" b="1" dirty="0" smtClean="0">
                <a:latin typeface="Book Antiqua" pitchFamily="18" charset="0"/>
              </a:rPr>
              <a:t>Project Proposal</a:t>
            </a:r>
          </a:p>
          <a:p>
            <a:pPr algn="ctr"/>
            <a:r>
              <a:rPr lang="en-US" sz="3200" b="1" dirty="0" smtClean="0">
                <a:latin typeface="Book Antiqua" pitchFamily="18" charset="0"/>
              </a:rPr>
              <a:t>On</a:t>
            </a:r>
          </a:p>
          <a:p>
            <a:pPr algn="ctr"/>
            <a:r>
              <a:rPr lang="en-US" sz="3200" b="1" dirty="0" smtClean="0">
                <a:latin typeface="Book Antiqua" pitchFamily="18" charset="0"/>
              </a:rPr>
              <a:t>Hospital Management</a:t>
            </a:r>
          </a:p>
          <a:p>
            <a:pPr algn="ctr"/>
            <a:r>
              <a:rPr lang="en-US" sz="3200" b="1" dirty="0" smtClean="0">
                <a:latin typeface="Book Antiqua" pitchFamily="18" charset="0"/>
              </a:rPr>
              <a:t>System</a:t>
            </a:r>
          </a:p>
        </p:txBody>
      </p:sp>
      <p:sp>
        <p:nvSpPr>
          <p:cNvPr id="6" name="TextBox 5"/>
          <p:cNvSpPr txBox="1"/>
          <p:nvPr/>
        </p:nvSpPr>
        <p:spPr>
          <a:xfrm>
            <a:off x="515983" y="6176001"/>
            <a:ext cx="2161169" cy="769441"/>
          </a:xfrm>
          <a:prstGeom prst="rect">
            <a:avLst/>
          </a:prstGeom>
          <a:noFill/>
        </p:spPr>
        <p:txBody>
          <a:bodyPr wrap="none" rtlCol="0">
            <a:spAutoFit/>
          </a:bodyPr>
          <a:lstStyle/>
          <a:p>
            <a:r>
              <a:rPr lang="en-US" sz="2200" b="1" dirty="0" smtClean="0">
                <a:latin typeface="Book Antiqua" pitchFamily="18" charset="0"/>
              </a:rPr>
              <a:t>Guided By:-</a:t>
            </a:r>
          </a:p>
          <a:p>
            <a:r>
              <a:rPr lang="en-US" sz="2200" b="1" dirty="0">
                <a:latin typeface="Book Antiqua" pitchFamily="18" charset="0"/>
              </a:rPr>
              <a:t> </a:t>
            </a:r>
            <a:r>
              <a:rPr lang="en-US" sz="2200" b="1" dirty="0" smtClean="0">
                <a:latin typeface="Book Antiqua" pitchFamily="18" charset="0"/>
              </a:rPr>
              <a:t>    </a:t>
            </a:r>
            <a:r>
              <a:rPr lang="en-US" sz="2200" b="1" dirty="0" err="1" smtClean="0">
                <a:latin typeface="Book Antiqua" pitchFamily="18" charset="0"/>
              </a:rPr>
              <a:t>Anuj</a:t>
            </a:r>
            <a:r>
              <a:rPr lang="en-US" sz="2200" b="1" dirty="0" smtClean="0">
                <a:latin typeface="Book Antiqua" pitchFamily="18" charset="0"/>
              </a:rPr>
              <a:t> Kumar</a:t>
            </a:r>
            <a:endParaRPr lang="en-US" sz="2200" b="1" dirty="0">
              <a:latin typeface="Book Antiqua" pitchFamily="18" charset="0"/>
            </a:endParaRPr>
          </a:p>
        </p:txBody>
      </p:sp>
      <p:sp>
        <p:nvSpPr>
          <p:cNvPr id="7" name="TextBox 6"/>
          <p:cNvSpPr txBox="1"/>
          <p:nvPr/>
        </p:nvSpPr>
        <p:spPr>
          <a:xfrm>
            <a:off x="4434841" y="6104326"/>
            <a:ext cx="2936673" cy="4324261"/>
          </a:xfrm>
          <a:prstGeom prst="rect">
            <a:avLst/>
          </a:prstGeom>
          <a:noFill/>
        </p:spPr>
        <p:txBody>
          <a:bodyPr wrap="square" rtlCol="0">
            <a:spAutoFit/>
          </a:bodyPr>
          <a:lstStyle/>
          <a:p>
            <a:r>
              <a:rPr lang="en-US" sz="2400" b="1" dirty="0" smtClean="0">
                <a:latin typeface="Book Antiqua" pitchFamily="18" charset="0"/>
              </a:rPr>
              <a:t>Created </a:t>
            </a:r>
            <a:r>
              <a:rPr lang="en-US" sz="2400" b="1" dirty="0" smtClean="0">
                <a:latin typeface="Book Antiqua" pitchFamily="18" charset="0"/>
              </a:rPr>
              <a:t>By:-</a:t>
            </a:r>
          </a:p>
          <a:p>
            <a:r>
              <a:rPr lang="en-US" sz="2400" b="1" dirty="0">
                <a:latin typeface="Book Antiqua" pitchFamily="18" charset="0"/>
              </a:rPr>
              <a:t> </a:t>
            </a:r>
            <a:r>
              <a:rPr lang="en-US" sz="2000" b="1" dirty="0" smtClean="0">
                <a:latin typeface="Book Antiqua" pitchFamily="18" charset="0"/>
              </a:rPr>
              <a:t>Name:</a:t>
            </a:r>
            <a:r>
              <a:rPr lang="en-US" sz="2400" b="1" dirty="0">
                <a:latin typeface="Book Antiqua" pitchFamily="18" charset="0"/>
              </a:rPr>
              <a:t> </a:t>
            </a:r>
            <a:r>
              <a:rPr lang="en-US" sz="2000" b="1" dirty="0" err="1" smtClean="0">
                <a:latin typeface="Book Antiqua" pitchFamily="18" charset="0"/>
              </a:rPr>
              <a:t>MohdKaif</a:t>
            </a:r>
            <a:r>
              <a:rPr lang="en-US" sz="2000" b="1" dirty="0" smtClean="0">
                <a:latin typeface="Book Antiqua" pitchFamily="18" charset="0"/>
              </a:rPr>
              <a:t>,</a:t>
            </a:r>
          </a:p>
          <a:p>
            <a:r>
              <a:rPr lang="en-US" sz="2000" b="1" dirty="0" smtClean="0">
                <a:latin typeface="Book Antiqua" pitchFamily="18" charset="0"/>
              </a:rPr>
              <a:t>       </a:t>
            </a:r>
            <a:r>
              <a:rPr lang="en-US" sz="2000" b="1" dirty="0" smtClean="0">
                <a:latin typeface="Book Antiqua" pitchFamily="18" charset="0"/>
              </a:rPr>
              <a:t> </a:t>
            </a:r>
            <a:r>
              <a:rPr lang="en-US" sz="2000" b="1" dirty="0" err="1" smtClean="0">
                <a:latin typeface="Book Antiqua" pitchFamily="18" charset="0"/>
              </a:rPr>
              <a:t>Aditya</a:t>
            </a:r>
            <a:r>
              <a:rPr lang="en-US" sz="2000" b="1" dirty="0" smtClean="0">
                <a:latin typeface="Book Antiqua" pitchFamily="18" charset="0"/>
              </a:rPr>
              <a:t> </a:t>
            </a:r>
            <a:r>
              <a:rPr lang="en-US" sz="2000" b="1" dirty="0" err="1" smtClean="0">
                <a:latin typeface="Book Antiqua" pitchFamily="18" charset="0"/>
              </a:rPr>
              <a:t>Kushwaha</a:t>
            </a:r>
            <a:endParaRPr lang="en-US" sz="2000" b="1" dirty="0" smtClean="0">
              <a:latin typeface="Book Antiqua" pitchFamily="18" charset="0"/>
            </a:endParaRPr>
          </a:p>
          <a:p>
            <a:pPr>
              <a:lnSpc>
                <a:spcPct val="150000"/>
              </a:lnSpc>
            </a:pPr>
            <a:r>
              <a:rPr lang="en-US" sz="2000" b="1" dirty="0">
                <a:latin typeface="Book Antiqua" pitchFamily="18" charset="0"/>
              </a:rPr>
              <a:t> </a:t>
            </a:r>
            <a:r>
              <a:rPr lang="en-US" sz="2000" b="1" dirty="0" err="1" smtClean="0">
                <a:latin typeface="Book Antiqua" pitchFamily="18" charset="0"/>
              </a:rPr>
              <a:t>AFId</a:t>
            </a:r>
            <a:r>
              <a:rPr lang="en-US" sz="2000" b="1" dirty="0" smtClean="0">
                <a:latin typeface="Book Antiqua" pitchFamily="18" charset="0"/>
              </a:rPr>
              <a:t> </a:t>
            </a:r>
            <a:r>
              <a:rPr lang="en-US" sz="2000" b="1" dirty="0" smtClean="0">
                <a:latin typeface="Book Antiqua" pitchFamily="18" charset="0"/>
              </a:rPr>
              <a:t>:AF04971730</a:t>
            </a:r>
            <a:r>
              <a:rPr lang="en-US" sz="2000" b="1" dirty="0" smtClean="0">
                <a:latin typeface="Book Antiqua" pitchFamily="18" charset="0"/>
              </a:rPr>
              <a:t>,</a:t>
            </a:r>
          </a:p>
          <a:p>
            <a:pPr>
              <a:lnSpc>
                <a:spcPct val="150000"/>
              </a:lnSpc>
            </a:pPr>
            <a:r>
              <a:rPr lang="en-US" sz="2000" b="1" dirty="0">
                <a:latin typeface="Book Antiqua" pitchFamily="18" charset="0"/>
              </a:rPr>
              <a:t> </a:t>
            </a:r>
            <a:r>
              <a:rPr lang="en-US" sz="2000" b="1" dirty="0" smtClean="0">
                <a:latin typeface="Book Antiqua" pitchFamily="18" charset="0"/>
              </a:rPr>
              <a:t>          </a:t>
            </a:r>
            <a:r>
              <a:rPr lang="en-US" sz="2000" b="1" dirty="0" smtClean="0">
                <a:latin typeface="Book Antiqua" pitchFamily="18" charset="0"/>
              </a:rPr>
              <a:t>  AF04991818</a:t>
            </a:r>
          </a:p>
          <a:p>
            <a:pPr>
              <a:lnSpc>
                <a:spcPct val="150000"/>
              </a:lnSpc>
            </a:pPr>
            <a:r>
              <a:rPr lang="en-US" sz="2000" b="1" dirty="0" smtClean="0">
                <a:latin typeface="Book Antiqua" pitchFamily="18" charset="0"/>
              </a:rPr>
              <a:t>            </a:t>
            </a:r>
          </a:p>
          <a:p>
            <a:pPr>
              <a:lnSpc>
                <a:spcPct val="150000"/>
              </a:lnSpc>
            </a:pPr>
            <a:r>
              <a:rPr lang="en-US" sz="2000" b="1" dirty="0" smtClean="0">
                <a:latin typeface="Book Antiqua" pitchFamily="18" charset="0"/>
              </a:rPr>
              <a:t>Batch </a:t>
            </a:r>
            <a:r>
              <a:rPr lang="en-US" sz="2000" b="1" dirty="0" smtClean="0">
                <a:latin typeface="Book Antiqua" pitchFamily="18" charset="0"/>
              </a:rPr>
              <a:t>Code:ANPD2405</a:t>
            </a:r>
          </a:p>
          <a:p>
            <a:pPr>
              <a:lnSpc>
                <a:spcPct val="150000"/>
              </a:lnSpc>
            </a:pPr>
            <a:r>
              <a:rPr lang="en-US" sz="2000" b="1" dirty="0" smtClean="0">
                <a:latin typeface="Book Antiqua" pitchFamily="18" charset="0"/>
              </a:rPr>
              <a:t>Course </a:t>
            </a:r>
            <a:r>
              <a:rPr lang="en-US" sz="2000" b="1" dirty="0" err="1" smtClean="0">
                <a:latin typeface="Book Antiqua" pitchFamily="18" charset="0"/>
              </a:rPr>
              <a:t>Code:ITPR</a:t>
            </a:r>
            <a:endParaRPr lang="en-US" sz="2000" b="1" dirty="0" smtClean="0">
              <a:latin typeface="Book Antiqua" pitchFamily="18" charset="0"/>
            </a:endParaRPr>
          </a:p>
          <a:p>
            <a:pPr>
              <a:lnSpc>
                <a:spcPct val="150000"/>
              </a:lnSpc>
            </a:pPr>
            <a:endParaRPr lang="en-US" sz="2200" b="1" dirty="0" smtClean="0"/>
          </a:p>
          <a:p>
            <a:endParaRPr lang="en-US" sz="2400" b="1" dirty="0" smtClean="0"/>
          </a:p>
        </p:txBody>
      </p:sp>
      <p:sp>
        <p:nvSpPr>
          <p:cNvPr id="9" name="Rectangle 8"/>
          <p:cNvSpPr/>
          <p:nvPr/>
        </p:nvSpPr>
        <p:spPr>
          <a:xfrm>
            <a:off x="359229" y="298646"/>
            <a:ext cx="7053943" cy="9461108"/>
          </a:xfrm>
          <a:prstGeom prst="rect">
            <a:avLst/>
          </a:prstGeom>
          <a:no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950592" y="457201"/>
            <a:ext cx="2209165" cy="321242"/>
          </a:xfrm>
          <a:prstGeom prst="rect">
            <a:avLst/>
          </a:prstGeom>
        </p:spPr>
        <p:txBody>
          <a:bodyPr vert="horz" wrap="square" lIns="0" tIns="13335" rIns="0" bIns="0" rtlCol="0">
            <a:spAutoFit/>
          </a:bodyPr>
          <a:lstStyle/>
          <a:p>
            <a:pPr marL="12700">
              <a:lnSpc>
                <a:spcPct val="100000"/>
              </a:lnSpc>
              <a:spcBef>
                <a:spcPts val="105"/>
              </a:spcBef>
            </a:pPr>
            <a:r>
              <a:rPr sz="2000" b="1" dirty="0">
                <a:latin typeface="+mj-lt"/>
                <a:cs typeface="Times New Roman"/>
              </a:rPr>
              <a:t>TABLE</a:t>
            </a:r>
            <a:r>
              <a:rPr sz="2000" b="1" spc="-75" dirty="0">
                <a:latin typeface="+mj-lt"/>
                <a:cs typeface="Times New Roman"/>
              </a:rPr>
              <a:t> </a:t>
            </a:r>
            <a:r>
              <a:rPr sz="2000" b="1" dirty="0">
                <a:latin typeface="+mj-lt"/>
                <a:cs typeface="Times New Roman"/>
              </a:rPr>
              <a:t>OF</a:t>
            </a:r>
            <a:r>
              <a:rPr sz="2000" b="1" spc="-15" dirty="0">
                <a:latin typeface="+mj-lt"/>
                <a:cs typeface="Times New Roman"/>
              </a:rPr>
              <a:t> </a:t>
            </a:r>
            <a:r>
              <a:rPr sz="2000" b="1" spc="-10" dirty="0">
                <a:latin typeface="+mj-lt"/>
                <a:cs typeface="Times New Roman"/>
              </a:rPr>
              <a:t>CONTENTS</a:t>
            </a:r>
            <a:endParaRPr sz="2000">
              <a:latin typeface="+mj-lt"/>
              <a:cs typeface="Times New Roman"/>
            </a:endParaRPr>
          </a:p>
        </p:txBody>
      </p:sp>
      <p:graphicFrame>
        <p:nvGraphicFramePr>
          <p:cNvPr id="3" name="object 3"/>
          <p:cNvGraphicFramePr>
            <a:graphicFrameLocks noGrp="1"/>
          </p:cNvGraphicFramePr>
          <p:nvPr/>
        </p:nvGraphicFramePr>
        <p:xfrm>
          <a:off x="914400" y="1066801"/>
          <a:ext cx="5856605" cy="8383912"/>
        </p:xfrm>
        <a:graphic>
          <a:graphicData uri="http://schemas.openxmlformats.org/drawingml/2006/table">
            <a:tbl>
              <a:tblPr firstRow="1" bandRow="1">
                <a:tableStyleId>{2D5ABB26-0587-4C30-8999-92F81FD0307C}</a:tableStyleId>
              </a:tblPr>
              <a:tblGrid>
                <a:gridCol w="695325"/>
                <a:gridCol w="3585845"/>
                <a:gridCol w="1575435"/>
              </a:tblGrid>
              <a:tr h="304800">
                <a:tc>
                  <a:txBody>
                    <a:bodyPr/>
                    <a:lstStyle/>
                    <a:p>
                      <a:pPr marL="31750">
                        <a:lnSpc>
                          <a:spcPts val="1755"/>
                        </a:lnSpc>
                      </a:pPr>
                      <a:r>
                        <a:rPr sz="1600" dirty="0">
                          <a:latin typeface="+mj-lt"/>
                          <a:cs typeface="Times New Roman"/>
                        </a:rPr>
                        <a:t>S.</a:t>
                      </a:r>
                      <a:r>
                        <a:rPr sz="1600" spc="-45" dirty="0">
                          <a:latin typeface="+mj-lt"/>
                          <a:cs typeface="Times New Roman"/>
                        </a:rPr>
                        <a:t> </a:t>
                      </a:r>
                      <a:r>
                        <a:rPr sz="1600" spc="-25" dirty="0">
                          <a:latin typeface="+mj-lt"/>
                          <a:cs typeface="Times New Roman"/>
                        </a:rPr>
                        <a:t>No.</a:t>
                      </a:r>
                      <a:endParaRPr sz="1600">
                        <a:latin typeface="+mj-lt"/>
                        <a:cs typeface="Times New Roman"/>
                      </a:endParaRPr>
                    </a:p>
                  </a:txBody>
                  <a:tcPr marL="0" marR="0" marT="0" marB="0"/>
                </a:tc>
                <a:tc>
                  <a:txBody>
                    <a:bodyPr/>
                    <a:lstStyle/>
                    <a:p>
                      <a:pPr marL="160655">
                        <a:lnSpc>
                          <a:spcPts val="1755"/>
                        </a:lnSpc>
                      </a:pPr>
                      <a:r>
                        <a:rPr sz="1600" dirty="0">
                          <a:latin typeface="+mj-lt"/>
                          <a:cs typeface="Times New Roman"/>
                        </a:rPr>
                        <a:t>Chapter</a:t>
                      </a:r>
                      <a:r>
                        <a:rPr sz="1600" spc="-95" dirty="0">
                          <a:latin typeface="+mj-lt"/>
                          <a:cs typeface="Times New Roman"/>
                        </a:rPr>
                        <a:t> </a:t>
                      </a:r>
                      <a:r>
                        <a:rPr sz="1600" dirty="0">
                          <a:latin typeface="+mj-lt"/>
                          <a:cs typeface="Times New Roman"/>
                        </a:rPr>
                        <a:t>/</a:t>
                      </a:r>
                      <a:r>
                        <a:rPr sz="1600" spc="-15" dirty="0">
                          <a:latin typeface="+mj-lt"/>
                          <a:cs typeface="Times New Roman"/>
                        </a:rPr>
                        <a:t> </a:t>
                      </a:r>
                      <a:r>
                        <a:rPr sz="1600" spc="-10" dirty="0">
                          <a:latin typeface="+mj-lt"/>
                          <a:cs typeface="Times New Roman"/>
                        </a:rPr>
                        <a:t>Section</a:t>
                      </a:r>
                      <a:endParaRPr sz="1600">
                        <a:latin typeface="+mj-lt"/>
                        <a:cs typeface="Times New Roman"/>
                      </a:endParaRPr>
                    </a:p>
                  </a:txBody>
                  <a:tcPr marL="0" marR="0" marT="0" marB="0"/>
                </a:tc>
                <a:tc>
                  <a:txBody>
                    <a:bodyPr/>
                    <a:lstStyle/>
                    <a:p>
                      <a:pPr marL="808355">
                        <a:lnSpc>
                          <a:spcPts val="1755"/>
                        </a:lnSpc>
                      </a:pPr>
                      <a:r>
                        <a:rPr lang="en-US" sz="1600" spc="-25" dirty="0" smtClean="0">
                          <a:latin typeface="+mn-lt"/>
                          <a:cs typeface="Times New Roman"/>
                        </a:rPr>
                        <a:t>Page No</a:t>
                      </a:r>
                      <a:endParaRPr sz="1600">
                        <a:latin typeface="+mn-lt"/>
                        <a:cs typeface="Times New Roman"/>
                      </a:endParaRPr>
                    </a:p>
                  </a:txBody>
                  <a:tcPr marL="0" marR="0" marT="0" marB="0"/>
                </a:tc>
              </a:tr>
              <a:tr h="536970">
                <a:tc>
                  <a:txBody>
                    <a:bodyPr/>
                    <a:lstStyle/>
                    <a:p>
                      <a:pPr marL="31750">
                        <a:lnSpc>
                          <a:spcPct val="100000"/>
                        </a:lnSpc>
                        <a:spcBef>
                          <a:spcPts val="1660"/>
                        </a:spcBef>
                      </a:pPr>
                      <a:r>
                        <a:rPr sz="1600" spc="-50" dirty="0">
                          <a:latin typeface="+mj-lt"/>
                          <a:cs typeface="Times New Roman"/>
                        </a:rPr>
                        <a:t>1</a:t>
                      </a:r>
                      <a:endParaRPr sz="1600">
                        <a:latin typeface="+mj-lt"/>
                        <a:cs typeface="Times New Roman"/>
                      </a:endParaRPr>
                    </a:p>
                  </a:txBody>
                  <a:tcPr marL="0" marR="0" marT="210820" marB="0"/>
                </a:tc>
                <a:tc>
                  <a:txBody>
                    <a:bodyPr/>
                    <a:lstStyle/>
                    <a:p>
                      <a:pPr marL="160655">
                        <a:lnSpc>
                          <a:spcPct val="100000"/>
                        </a:lnSpc>
                        <a:spcBef>
                          <a:spcPts val="1660"/>
                        </a:spcBef>
                      </a:pPr>
                      <a:r>
                        <a:rPr lang="en-US" sz="1600" spc="-10" dirty="0" smtClean="0">
                          <a:latin typeface="+mj-lt"/>
                          <a:cs typeface="Times New Roman"/>
                        </a:rPr>
                        <a:t>Title</a:t>
                      </a:r>
                      <a:r>
                        <a:rPr lang="en-US" sz="1600" spc="-10" baseline="0" dirty="0" smtClean="0">
                          <a:latin typeface="+mj-lt"/>
                          <a:cs typeface="Times New Roman"/>
                        </a:rPr>
                        <a:t> Of The Project…….</a:t>
                      </a:r>
                      <a:endParaRPr sz="1600">
                        <a:latin typeface="+mj-lt"/>
                        <a:cs typeface="Times New Roman"/>
                      </a:endParaRPr>
                    </a:p>
                  </a:txBody>
                  <a:tcPr marL="0" marR="0" marT="210820" marB="0"/>
                </a:tc>
                <a:tc>
                  <a:txBody>
                    <a:bodyPr/>
                    <a:lstStyle/>
                    <a:p>
                      <a:pPr marL="811530">
                        <a:lnSpc>
                          <a:spcPct val="100000"/>
                        </a:lnSpc>
                        <a:spcBef>
                          <a:spcPts val="1660"/>
                        </a:spcBef>
                      </a:pPr>
                      <a:r>
                        <a:rPr lang="en-US" sz="1600" dirty="0" smtClean="0">
                          <a:latin typeface="+mn-lt"/>
                          <a:cs typeface="Times New Roman"/>
                        </a:rPr>
                        <a:t>1</a:t>
                      </a:r>
                      <a:endParaRPr sz="1600">
                        <a:latin typeface="+mn-lt"/>
                        <a:cs typeface="Times New Roman"/>
                      </a:endParaRPr>
                    </a:p>
                  </a:txBody>
                  <a:tcPr marL="0" marR="0" marT="210820" marB="0"/>
                </a:tc>
              </a:tr>
              <a:tr h="547770">
                <a:tc>
                  <a:txBody>
                    <a:bodyPr/>
                    <a:lstStyle/>
                    <a:p>
                      <a:pPr marL="31750">
                        <a:lnSpc>
                          <a:spcPct val="100000"/>
                        </a:lnSpc>
                        <a:spcBef>
                          <a:spcPts val="1700"/>
                        </a:spcBef>
                      </a:pPr>
                      <a:r>
                        <a:rPr sz="1600" spc="-50" dirty="0">
                          <a:latin typeface="+mj-lt"/>
                          <a:cs typeface="Times New Roman"/>
                        </a:rPr>
                        <a:t>2</a:t>
                      </a:r>
                      <a:endParaRPr sz="1600">
                        <a:latin typeface="+mj-lt"/>
                        <a:cs typeface="Times New Roman"/>
                      </a:endParaRPr>
                    </a:p>
                  </a:txBody>
                  <a:tcPr marL="0" marR="0" marT="215900" marB="0"/>
                </a:tc>
                <a:tc>
                  <a:txBody>
                    <a:bodyPr/>
                    <a:lstStyle/>
                    <a:p>
                      <a:pPr marL="160655">
                        <a:lnSpc>
                          <a:spcPct val="100000"/>
                        </a:lnSpc>
                        <a:spcBef>
                          <a:spcPts val="1700"/>
                        </a:spcBef>
                      </a:pPr>
                      <a:r>
                        <a:rPr lang="en-US" sz="1600" dirty="0" smtClean="0">
                          <a:latin typeface="+mj-lt"/>
                          <a:cs typeface="Times New Roman"/>
                        </a:rPr>
                        <a:t>Introduction……..</a:t>
                      </a:r>
                      <a:endParaRPr sz="1600">
                        <a:latin typeface="+mj-lt"/>
                        <a:cs typeface="Times New Roman"/>
                      </a:endParaRPr>
                    </a:p>
                  </a:txBody>
                  <a:tcPr marL="0" marR="0" marT="215900" marB="0"/>
                </a:tc>
                <a:tc>
                  <a:txBody>
                    <a:bodyPr/>
                    <a:lstStyle/>
                    <a:p>
                      <a:pPr marL="811530">
                        <a:lnSpc>
                          <a:spcPct val="100000"/>
                        </a:lnSpc>
                        <a:spcBef>
                          <a:spcPts val="1700"/>
                        </a:spcBef>
                      </a:pPr>
                      <a:r>
                        <a:rPr lang="en-US" sz="1600" dirty="0" smtClean="0">
                          <a:latin typeface="+mn-lt"/>
                          <a:cs typeface="Times New Roman"/>
                        </a:rPr>
                        <a:t>2</a:t>
                      </a:r>
                      <a:endParaRPr sz="1600">
                        <a:latin typeface="+mn-lt"/>
                        <a:cs typeface="Times New Roman"/>
                      </a:endParaRPr>
                    </a:p>
                  </a:txBody>
                  <a:tcPr marL="0" marR="0" marT="215900" marB="0"/>
                </a:tc>
              </a:tr>
              <a:tr h="548260">
                <a:tc>
                  <a:txBody>
                    <a:bodyPr/>
                    <a:lstStyle/>
                    <a:p>
                      <a:pPr marL="31750">
                        <a:lnSpc>
                          <a:spcPct val="100000"/>
                        </a:lnSpc>
                        <a:spcBef>
                          <a:spcPts val="1770"/>
                        </a:spcBef>
                      </a:pPr>
                      <a:r>
                        <a:rPr sz="1600" spc="-50" dirty="0">
                          <a:latin typeface="+mj-lt"/>
                          <a:cs typeface="Times New Roman"/>
                        </a:rPr>
                        <a:t>3</a:t>
                      </a:r>
                      <a:endParaRPr sz="1600">
                        <a:latin typeface="+mj-lt"/>
                        <a:cs typeface="Times New Roman"/>
                      </a:endParaRPr>
                    </a:p>
                  </a:txBody>
                  <a:tcPr marL="0" marR="0" marT="224790" marB="0"/>
                </a:tc>
                <a:tc>
                  <a:txBody>
                    <a:bodyPr/>
                    <a:lstStyle/>
                    <a:p>
                      <a:pPr marL="160655">
                        <a:lnSpc>
                          <a:spcPct val="100000"/>
                        </a:lnSpc>
                        <a:spcBef>
                          <a:spcPts val="1770"/>
                        </a:spcBef>
                      </a:pPr>
                      <a:r>
                        <a:rPr sz="1600" spc="-10" smtClean="0">
                          <a:latin typeface="+mj-lt"/>
                          <a:cs typeface="Times New Roman"/>
                        </a:rPr>
                        <a:t>Objectives</a:t>
                      </a:r>
                      <a:endParaRPr lang="en-US" sz="1600" spc="-10" dirty="0" smtClean="0">
                        <a:latin typeface="+mj-lt"/>
                        <a:cs typeface="Times New Roman"/>
                      </a:endParaRPr>
                    </a:p>
                  </a:txBody>
                  <a:tcPr marL="0" marR="0" marT="224790" marB="0"/>
                </a:tc>
                <a:tc>
                  <a:txBody>
                    <a:bodyPr/>
                    <a:lstStyle/>
                    <a:p>
                      <a:pPr marL="811530">
                        <a:lnSpc>
                          <a:spcPct val="100000"/>
                        </a:lnSpc>
                        <a:spcBef>
                          <a:spcPts val="1770"/>
                        </a:spcBef>
                      </a:pPr>
                      <a:r>
                        <a:rPr sz="1600" spc="-50" dirty="0">
                          <a:latin typeface="+mn-lt"/>
                          <a:cs typeface="Times New Roman"/>
                        </a:rPr>
                        <a:t>3</a:t>
                      </a:r>
                      <a:endParaRPr sz="1600">
                        <a:latin typeface="+mn-lt"/>
                        <a:cs typeface="Times New Roman"/>
                      </a:endParaRPr>
                    </a:p>
                  </a:txBody>
                  <a:tcPr marL="0" marR="0" marT="224790" marB="0"/>
                </a:tc>
              </a:tr>
              <a:tr h="542372">
                <a:tc>
                  <a:txBody>
                    <a:bodyPr/>
                    <a:lstStyle/>
                    <a:p>
                      <a:pPr marL="31750">
                        <a:lnSpc>
                          <a:spcPct val="100000"/>
                        </a:lnSpc>
                        <a:spcBef>
                          <a:spcPts val="1700"/>
                        </a:spcBef>
                      </a:pPr>
                      <a:r>
                        <a:rPr sz="1600" spc="-50" dirty="0">
                          <a:latin typeface="+mj-lt"/>
                          <a:cs typeface="Times New Roman"/>
                        </a:rPr>
                        <a:t>4</a:t>
                      </a:r>
                      <a:endParaRPr sz="1600">
                        <a:latin typeface="+mj-lt"/>
                        <a:cs typeface="Times New Roman"/>
                      </a:endParaRPr>
                    </a:p>
                  </a:txBody>
                  <a:tcPr marL="0" marR="0" marT="215900" marB="0"/>
                </a:tc>
                <a:tc>
                  <a:txBody>
                    <a:bodyPr/>
                    <a:lstStyle/>
                    <a:p>
                      <a:pPr marL="160655">
                        <a:lnSpc>
                          <a:spcPct val="100000"/>
                        </a:lnSpc>
                        <a:spcBef>
                          <a:spcPts val="1700"/>
                        </a:spcBef>
                      </a:pPr>
                      <a:r>
                        <a:rPr lang="en-US" sz="1600" spc="-10" dirty="0" smtClean="0">
                          <a:latin typeface="+mj-lt"/>
                          <a:cs typeface="Times New Roman"/>
                        </a:rPr>
                        <a:t>Project</a:t>
                      </a:r>
                      <a:r>
                        <a:rPr lang="en-US" sz="1600" spc="-10" baseline="0" dirty="0" smtClean="0">
                          <a:latin typeface="+mj-lt"/>
                          <a:cs typeface="Times New Roman"/>
                        </a:rPr>
                        <a:t> Category</a:t>
                      </a:r>
                      <a:endParaRPr sz="1600">
                        <a:latin typeface="+mj-lt"/>
                        <a:cs typeface="Times New Roman"/>
                      </a:endParaRPr>
                    </a:p>
                  </a:txBody>
                  <a:tcPr marL="0" marR="0" marT="215900" marB="0"/>
                </a:tc>
                <a:tc>
                  <a:txBody>
                    <a:bodyPr/>
                    <a:lstStyle/>
                    <a:p>
                      <a:pPr marL="811530">
                        <a:lnSpc>
                          <a:spcPct val="100000"/>
                        </a:lnSpc>
                        <a:spcBef>
                          <a:spcPts val="1700"/>
                        </a:spcBef>
                      </a:pPr>
                      <a:r>
                        <a:rPr sz="1600" spc="-50" dirty="0">
                          <a:latin typeface="+mn-lt"/>
                          <a:cs typeface="Times New Roman"/>
                        </a:rPr>
                        <a:t>4</a:t>
                      </a:r>
                      <a:endParaRPr sz="1600">
                        <a:latin typeface="+mn-lt"/>
                        <a:cs typeface="Times New Roman"/>
                      </a:endParaRPr>
                    </a:p>
                  </a:txBody>
                  <a:tcPr marL="0" marR="0" marT="215900" marB="0"/>
                </a:tc>
              </a:tr>
              <a:tr h="2299335">
                <a:tc>
                  <a:txBody>
                    <a:bodyPr/>
                    <a:lstStyle/>
                    <a:p>
                      <a:pPr marL="31750">
                        <a:lnSpc>
                          <a:spcPct val="100000"/>
                        </a:lnSpc>
                        <a:spcBef>
                          <a:spcPts val="1705"/>
                        </a:spcBef>
                      </a:pPr>
                      <a:r>
                        <a:rPr sz="1600" spc="-50" dirty="0">
                          <a:latin typeface="+mj-lt"/>
                          <a:cs typeface="Times New Roman"/>
                        </a:rPr>
                        <a:t>5</a:t>
                      </a:r>
                      <a:endParaRPr sz="1600">
                        <a:latin typeface="+mj-lt"/>
                        <a:cs typeface="Times New Roman"/>
                      </a:endParaRPr>
                    </a:p>
                  </a:txBody>
                  <a:tcPr marL="0" marR="0" marT="216535" marB="0"/>
                </a:tc>
                <a:tc>
                  <a:txBody>
                    <a:bodyPr/>
                    <a:lstStyle/>
                    <a:p>
                      <a:pPr marL="160655">
                        <a:lnSpc>
                          <a:spcPct val="100000"/>
                        </a:lnSpc>
                        <a:spcBef>
                          <a:spcPts val="1705"/>
                        </a:spcBef>
                      </a:pPr>
                      <a:r>
                        <a:rPr lang="en-US" sz="1600" dirty="0" smtClean="0">
                          <a:latin typeface="+mj-lt"/>
                          <a:cs typeface="Times New Roman"/>
                        </a:rPr>
                        <a:t>Analysis</a:t>
                      </a:r>
                    </a:p>
                    <a:p>
                      <a:pPr marL="160655">
                        <a:lnSpc>
                          <a:spcPct val="100000"/>
                        </a:lnSpc>
                        <a:spcBef>
                          <a:spcPts val="1705"/>
                        </a:spcBef>
                      </a:pPr>
                      <a:r>
                        <a:rPr lang="en-US" sz="1600" b="1" dirty="0" smtClean="0">
                          <a:latin typeface="+mj-lt"/>
                        </a:rPr>
                        <a:t>● </a:t>
                      </a:r>
                      <a:r>
                        <a:rPr lang="en-US" sz="1600" b="0" dirty="0" smtClean="0">
                          <a:latin typeface="+mj-lt"/>
                        </a:rPr>
                        <a:t>Modules</a:t>
                      </a:r>
                      <a:r>
                        <a:rPr lang="en-US" sz="1600" b="0" baseline="0" dirty="0" smtClean="0">
                          <a:latin typeface="+mj-lt"/>
                        </a:rPr>
                        <a:t> and Description</a:t>
                      </a:r>
                    </a:p>
                    <a:p>
                      <a:pPr marL="160655">
                        <a:lnSpc>
                          <a:spcPct val="100000"/>
                        </a:lnSpc>
                        <a:spcBef>
                          <a:spcPts val="1705"/>
                        </a:spcBef>
                      </a:pPr>
                      <a:r>
                        <a:rPr lang="en-US" sz="1600" b="1" dirty="0" smtClean="0">
                          <a:latin typeface="+mj-lt"/>
                        </a:rPr>
                        <a:t>●</a:t>
                      </a:r>
                      <a:r>
                        <a:rPr lang="en-US" sz="1600" b="0" baseline="0" dirty="0" smtClean="0">
                          <a:latin typeface="+mj-lt"/>
                        </a:rPr>
                        <a:t> Database Design</a:t>
                      </a:r>
                    </a:p>
                    <a:p>
                      <a:pPr marL="160655">
                        <a:lnSpc>
                          <a:spcPct val="100000"/>
                        </a:lnSpc>
                        <a:spcBef>
                          <a:spcPts val="1705"/>
                        </a:spcBef>
                      </a:pPr>
                      <a:r>
                        <a:rPr lang="en-US" sz="1600" b="1" dirty="0" smtClean="0">
                          <a:latin typeface="+mj-lt"/>
                        </a:rPr>
                        <a:t>● </a:t>
                      </a:r>
                      <a:r>
                        <a:rPr lang="en-US" sz="1600" b="0" dirty="0" smtClean="0">
                          <a:latin typeface="+mj-lt"/>
                        </a:rPr>
                        <a:t>ER</a:t>
                      </a:r>
                      <a:r>
                        <a:rPr lang="en-US" sz="1600" b="0" baseline="0" dirty="0" smtClean="0">
                          <a:latin typeface="+mj-lt"/>
                        </a:rPr>
                        <a:t> Diagram</a:t>
                      </a:r>
                    </a:p>
                    <a:p>
                      <a:pPr marL="160655">
                        <a:lnSpc>
                          <a:spcPct val="100000"/>
                        </a:lnSpc>
                        <a:spcBef>
                          <a:spcPts val="1705"/>
                        </a:spcBef>
                      </a:pPr>
                      <a:r>
                        <a:rPr lang="en-US" sz="1600" b="1" dirty="0" smtClean="0">
                          <a:latin typeface="+mj-lt"/>
                        </a:rPr>
                        <a:t>● </a:t>
                      </a:r>
                      <a:r>
                        <a:rPr lang="en-US" sz="1600" b="0" dirty="0" smtClean="0">
                          <a:latin typeface="+mj-lt"/>
                        </a:rPr>
                        <a:t>Data</a:t>
                      </a:r>
                      <a:r>
                        <a:rPr lang="en-US" sz="1600" b="0" baseline="0" dirty="0" smtClean="0">
                          <a:latin typeface="+mj-lt"/>
                        </a:rPr>
                        <a:t> Flow Diagram</a:t>
                      </a:r>
                      <a:endParaRPr sz="1600">
                        <a:latin typeface="+mj-lt"/>
                        <a:cs typeface="Times New Roman"/>
                      </a:endParaRPr>
                    </a:p>
                  </a:txBody>
                  <a:tcPr marL="0" marR="0" marT="216535" marB="0"/>
                </a:tc>
                <a:tc>
                  <a:txBody>
                    <a:bodyPr/>
                    <a:lstStyle/>
                    <a:p>
                      <a:pPr marL="808355">
                        <a:lnSpc>
                          <a:spcPct val="100000"/>
                        </a:lnSpc>
                        <a:spcBef>
                          <a:spcPts val="1705"/>
                        </a:spcBef>
                      </a:pPr>
                      <a:r>
                        <a:rPr lang="en-US" sz="1600" spc="-50" dirty="0" smtClean="0">
                          <a:latin typeface="+mn-lt"/>
                          <a:cs typeface="Times New Roman"/>
                        </a:rPr>
                        <a:t>5-9</a:t>
                      </a:r>
                      <a:endParaRPr sz="1600">
                        <a:latin typeface="+mn-lt"/>
                        <a:cs typeface="Times New Roman"/>
                      </a:endParaRPr>
                    </a:p>
                  </a:txBody>
                  <a:tcPr marL="0" marR="0" marT="216535" marB="0"/>
                </a:tc>
              </a:tr>
              <a:tr h="919480">
                <a:tc>
                  <a:txBody>
                    <a:bodyPr/>
                    <a:lstStyle/>
                    <a:p>
                      <a:pPr marL="31750">
                        <a:lnSpc>
                          <a:spcPct val="100000"/>
                        </a:lnSpc>
                        <a:spcBef>
                          <a:spcPts val="1700"/>
                        </a:spcBef>
                      </a:pPr>
                      <a:r>
                        <a:rPr sz="1600" spc="-50" dirty="0">
                          <a:latin typeface="+mj-lt"/>
                          <a:cs typeface="Times New Roman"/>
                        </a:rPr>
                        <a:t>6</a:t>
                      </a:r>
                      <a:endParaRPr sz="1600">
                        <a:latin typeface="+mj-lt"/>
                        <a:cs typeface="Times New Roman"/>
                      </a:endParaRPr>
                    </a:p>
                  </a:txBody>
                  <a:tcPr marL="0" marR="0" marT="215900" marB="0"/>
                </a:tc>
                <a:tc>
                  <a:txBody>
                    <a:bodyPr/>
                    <a:lstStyle/>
                    <a:p>
                      <a:pPr marL="160655">
                        <a:lnSpc>
                          <a:spcPct val="100000"/>
                        </a:lnSpc>
                        <a:spcBef>
                          <a:spcPts val="1700"/>
                        </a:spcBef>
                      </a:pPr>
                      <a:r>
                        <a:rPr lang="en-US" sz="1600" dirty="0" smtClean="0">
                          <a:latin typeface="+mj-lt"/>
                          <a:cs typeface="Times New Roman"/>
                        </a:rPr>
                        <a:t>Complete</a:t>
                      </a:r>
                      <a:r>
                        <a:rPr lang="en-US" sz="1600" baseline="0" dirty="0" smtClean="0">
                          <a:latin typeface="+mj-lt"/>
                          <a:cs typeface="Times New Roman"/>
                        </a:rPr>
                        <a:t> Structure</a:t>
                      </a:r>
                    </a:p>
                    <a:p>
                      <a:pPr marL="160655">
                        <a:lnSpc>
                          <a:spcPct val="100000"/>
                        </a:lnSpc>
                        <a:spcBef>
                          <a:spcPts val="1700"/>
                        </a:spcBef>
                      </a:pPr>
                      <a:r>
                        <a:rPr lang="en-US" sz="1600" b="1" dirty="0" smtClean="0">
                          <a:latin typeface="+mj-lt"/>
                        </a:rPr>
                        <a:t>● </a:t>
                      </a:r>
                      <a:r>
                        <a:rPr lang="en-US" sz="1600" b="0" dirty="0" smtClean="0">
                          <a:latin typeface="+mj-lt"/>
                        </a:rPr>
                        <a:t>Process</a:t>
                      </a:r>
                      <a:r>
                        <a:rPr lang="en-US" sz="1600" b="0" baseline="0" dirty="0" smtClean="0">
                          <a:latin typeface="+mj-lt"/>
                        </a:rPr>
                        <a:t> Logical Diagram</a:t>
                      </a:r>
                      <a:endParaRPr sz="1600">
                        <a:latin typeface="+mj-lt"/>
                        <a:cs typeface="Times New Roman"/>
                      </a:endParaRPr>
                    </a:p>
                  </a:txBody>
                  <a:tcPr marL="0" marR="0" marT="215900" marB="0"/>
                </a:tc>
                <a:tc>
                  <a:txBody>
                    <a:bodyPr/>
                    <a:lstStyle/>
                    <a:p>
                      <a:pPr marL="811530">
                        <a:lnSpc>
                          <a:spcPct val="100000"/>
                        </a:lnSpc>
                        <a:spcBef>
                          <a:spcPts val="1700"/>
                        </a:spcBef>
                      </a:pPr>
                      <a:r>
                        <a:rPr sz="1600" spc="-25" smtClean="0">
                          <a:latin typeface="+mn-lt"/>
                          <a:cs typeface="Times New Roman"/>
                        </a:rPr>
                        <a:t>1</a:t>
                      </a:r>
                      <a:r>
                        <a:rPr lang="en-US" sz="1600" spc="-25" dirty="0" smtClean="0">
                          <a:latin typeface="+mn-lt"/>
                          <a:cs typeface="Times New Roman"/>
                        </a:rPr>
                        <a:t>0</a:t>
                      </a:r>
                      <a:endParaRPr sz="1600">
                        <a:latin typeface="+mn-lt"/>
                        <a:cs typeface="Times New Roman"/>
                      </a:endParaRPr>
                    </a:p>
                  </a:txBody>
                  <a:tcPr marL="0" marR="0" marT="215900" marB="0"/>
                </a:tc>
              </a:tr>
              <a:tr h="1379855">
                <a:tc>
                  <a:txBody>
                    <a:bodyPr/>
                    <a:lstStyle/>
                    <a:p>
                      <a:pPr marL="31750">
                        <a:lnSpc>
                          <a:spcPct val="100000"/>
                        </a:lnSpc>
                        <a:spcBef>
                          <a:spcPts val="1705"/>
                        </a:spcBef>
                      </a:pPr>
                      <a:r>
                        <a:rPr sz="1600" spc="-50" dirty="0">
                          <a:latin typeface="+mj-lt"/>
                          <a:cs typeface="Times New Roman"/>
                        </a:rPr>
                        <a:t>7</a:t>
                      </a:r>
                      <a:endParaRPr sz="1600">
                        <a:latin typeface="+mj-lt"/>
                        <a:cs typeface="Times New Roman"/>
                      </a:endParaRPr>
                    </a:p>
                  </a:txBody>
                  <a:tcPr marL="0" marR="0" marT="216535" marB="0"/>
                </a:tc>
                <a:tc>
                  <a:txBody>
                    <a:bodyPr/>
                    <a:lstStyle/>
                    <a:p>
                      <a:pPr marL="160655">
                        <a:lnSpc>
                          <a:spcPct val="100000"/>
                        </a:lnSpc>
                        <a:spcBef>
                          <a:spcPts val="1705"/>
                        </a:spcBef>
                      </a:pPr>
                      <a:r>
                        <a:rPr lang="en-US" sz="1600" dirty="0" smtClean="0">
                          <a:latin typeface="+mj-lt"/>
                          <a:cs typeface="Times New Roman"/>
                        </a:rPr>
                        <a:t>Platform</a:t>
                      </a:r>
                      <a:r>
                        <a:rPr lang="en-US" sz="1600" baseline="0" dirty="0" smtClean="0">
                          <a:latin typeface="+mj-lt"/>
                          <a:cs typeface="Times New Roman"/>
                        </a:rPr>
                        <a:t> Used</a:t>
                      </a:r>
                    </a:p>
                    <a:p>
                      <a:pPr marL="160655">
                        <a:lnSpc>
                          <a:spcPct val="100000"/>
                        </a:lnSpc>
                        <a:spcBef>
                          <a:spcPts val="1705"/>
                        </a:spcBef>
                      </a:pPr>
                      <a:r>
                        <a:rPr lang="en-US" sz="1600" b="1" dirty="0" smtClean="0">
                          <a:latin typeface="+mj-lt"/>
                        </a:rPr>
                        <a:t>●</a:t>
                      </a:r>
                      <a:r>
                        <a:rPr lang="en-US" sz="1600" b="0" dirty="0" smtClean="0">
                          <a:latin typeface="+mj-lt"/>
                        </a:rPr>
                        <a:t>Hardware</a:t>
                      </a:r>
                      <a:r>
                        <a:rPr lang="en-US" sz="1600" b="0" baseline="0" dirty="0" smtClean="0">
                          <a:latin typeface="+mj-lt"/>
                        </a:rPr>
                        <a:t> Requirement</a:t>
                      </a:r>
                    </a:p>
                    <a:p>
                      <a:pPr marL="160655">
                        <a:lnSpc>
                          <a:spcPct val="100000"/>
                        </a:lnSpc>
                        <a:spcBef>
                          <a:spcPts val="1705"/>
                        </a:spcBef>
                      </a:pPr>
                      <a:r>
                        <a:rPr lang="en-US" sz="1600" b="1" dirty="0" smtClean="0">
                          <a:latin typeface="+mj-lt"/>
                        </a:rPr>
                        <a:t>●</a:t>
                      </a:r>
                      <a:r>
                        <a:rPr lang="en-US" sz="1600" b="0" dirty="0" smtClean="0">
                          <a:latin typeface="+mj-lt"/>
                        </a:rPr>
                        <a:t>Software Requirement</a:t>
                      </a:r>
                      <a:endParaRPr sz="1600" b="0">
                        <a:latin typeface="+mj-lt"/>
                        <a:cs typeface="Times New Roman"/>
                      </a:endParaRPr>
                    </a:p>
                  </a:txBody>
                  <a:tcPr marL="0" marR="0" marT="216535" marB="0"/>
                </a:tc>
                <a:tc>
                  <a:txBody>
                    <a:bodyPr/>
                    <a:lstStyle/>
                    <a:p>
                      <a:pPr marL="808355">
                        <a:lnSpc>
                          <a:spcPct val="100000"/>
                        </a:lnSpc>
                        <a:spcBef>
                          <a:spcPts val="1705"/>
                        </a:spcBef>
                      </a:pPr>
                      <a:r>
                        <a:rPr sz="1600" spc="-25" smtClean="0">
                          <a:latin typeface="+mn-lt"/>
                          <a:cs typeface="Times New Roman"/>
                        </a:rPr>
                        <a:t>1</a:t>
                      </a:r>
                      <a:r>
                        <a:rPr lang="en-US" sz="1600" spc="-25" dirty="0" smtClean="0">
                          <a:latin typeface="+mn-lt"/>
                          <a:cs typeface="Times New Roman"/>
                        </a:rPr>
                        <a:t>1</a:t>
                      </a:r>
                      <a:endParaRPr sz="1600">
                        <a:latin typeface="+mn-lt"/>
                        <a:cs typeface="Times New Roman"/>
                      </a:endParaRPr>
                    </a:p>
                  </a:txBody>
                  <a:tcPr marL="0" marR="0" marT="216535" marB="0"/>
                </a:tc>
              </a:tr>
              <a:tr h="863110">
                <a:tc>
                  <a:txBody>
                    <a:bodyPr/>
                    <a:lstStyle/>
                    <a:p>
                      <a:pPr marL="31750">
                        <a:lnSpc>
                          <a:spcPct val="100000"/>
                        </a:lnSpc>
                        <a:spcBef>
                          <a:spcPts val="1765"/>
                        </a:spcBef>
                      </a:pPr>
                      <a:r>
                        <a:rPr sz="1600" spc="-50" dirty="0">
                          <a:latin typeface="+mj-lt"/>
                          <a:cs typeface="Times New Roman"/>
                        </a:rPr>
                        <a:t>8</a:t>
                      </a:r>
                      <a:endParaRPr sz="1600">
                        <a:latin typeface="+mj-lt"/>
                        <a:cs typeface="Times New Roman"/>
                      </a:endParaRPr>
                    </a:p>
                  </a:txBody>
                  <a:tcPr marL="0" marR="0" marT="224155" marB="0"/>
                </a:tc>
                <a:tc>
                  <a:txBody>
                    <a:bodyPr/>
                    <a:lstStyle/>
                    <a:p>
                      <a:pPr marL="160655">
                        <a:lnSpc>
                          <a:spcPct val="100000"/>
                        </a:lnSpc>
                        <a:spcBef>
                          <a:spcPts val="1765"/>
                        </a:spcBef>
                      </a:pPr>
                      <a:r>
                        <a:rPr sz="1600" smtClean="0">
                          <a:latin typeface="+mj-lt"/>
                          <a:cs typeface="Times New Roman"/>
                        </a:rPr>
                        <a:t>Future</a:t>
                      </a:r>
                      <a:r>
                        <a:rPr sz="1600" spc="-45" smtClean="0">
                          <a:latin typeface="+mj-lt"/>
                          <a:cs typeface="Times New Roman"/>
                        </a:rPr>
                        <a:t> </a:t>
                      </a:r>
                      <a:r>
                        <a:rPr sz="1600" spc="-20" dirty="0">
                          <a:latin typeface="+mj-lt"/>
                          <a:cs typeface="Times New Roman"/>
                        </a:rPr>
                        <a:t>Scope</a:t>
                      </a:r>
                      <a:endParaRPr sz="1600">
                        <a:latin typeface="+mj-lt"/>
                        <a:cs typeface="Times New Roman"/>
                      </a:endParaRPr>
                    </a:p>
                  </a:txBody>
                  <a:tcPr marL="0" marR="0" marT="224155" marB="0"/>
                </a:tc>
                <a:tc>
                  <a:txBody>
                    <a:bodyPr/>
                    <a:lstStyle/>
                    <a:p>
                      <a:pPr marL="811530">
                        <a:lnSpc>
                          <a:spcPct val="100000"/>
                        </a:lnSpc>
                        <a:spcBef>
                          <a:spcPts val="1765"/>
                        </a:spcBef>
                      </a:pPr>
                      <a:r>
                        <a:rPr sz="1600" spc="-25" smtClean="0">
                          <a:latin typeface="+mn-lt"/>
                          <a:cs typeface="Times New Roman"/>
                        </a:rPr>
                        <a:t>1</a:t>
                      </a:r>
                      <a:r>
                        <a:rPr lang="en-US" sz="1600" spc="-25" dirty="0" smtClean="0">
                          <a:latin typeface="+mn-lt"/>
                          <a:cs typeface="Times New Roman"/>
                        </a:rPr>
                        <a:t>1</a:t>
                      </a:r>
                      <a:endParaRPr sz="1600">
                        <a:latin typeface="+mn-lt"/>
                        <a:cs typeface="Times New Roman"/>
                      </a:endParaRPr>
                    </a:p>
                  </a:txBody>
                  <a:tcPr marL="0" marR="0" marT="224155" marB="0"/>
                </a:tc>
              </a:tr>
              <a:tr h="441960">
                <a:tc>
                  <a:txBody>
                    <a:bodyPr/>
                    <a:lstStyle/>
                    <a:p>
                      <a:pPr marL="31750">
                        <a:lnSpc>
                          <a:spcPts val="1850"/>
                        </a:lnSpc>
                        <a:spcBef>
                          <a:spcPts val="1580"/>
                        </a:spcBef>
                      </a:pPr>
                      <a:r>
                        <a:rPr sz="1600" spc="-50" dirty="0">
                          <a:latin typeface="+mj-lt"/>
                          <a:cs typeface="Times New Roman"/>
                        </a:rPr>
                        <a:t>9</a:t>
                      </a:r>
                      <a:endParaRPr sz="1600">
                        <a:latin typeface="+mj-lt"/>
                        <a:cs typeface="Times New Roman"/>
                      </a:endParaRPr>
                    </a:p>
                  </a:txBody>
                  <a:tcPr marL="0" marR="0" marT="200660" marB="0"/>
                </a:tc>
                <a:tc>
                  <a:txBody>
                    <a:bodyPr/>
                    <a:lstStyle/>
                    <a:p>
                      <a:pPr marL="160655">
                        <a:lnSpc>
                          <a:spcPts val="1850"/>
                        </a:lnSpc>
                        <a:spcBef>
                          <a:spcPts val="1580"/>
                        </a:spcBef>
                      </a:pPr>
                      <a:r>
                        <a:rPr lang="en-US" sz="1600" spc="-10" dirty="0" smtClean="0">
                          <a:latin typeface="+mj-lt"/>
                          <a:cs typeface="Times New Roman"/>
                        </a:rPr>
                        <a:t>Bibliography</a:t>
                      </a:r>
                      <a:endParaRPr sz="1600">
                        <a:latin typeface="+mj-lt"/>
                        <a:cs typeface="Times New Roman"/>
                      </a:endParaRPr>
                    </a:p>
                  </a:txBody>
                  <a:tcPr marL="0" marR="0" marT="200660" marB="0"/>
                </a:tc>
                <a:tc>
                  <a:txBody>
                    <a:bodyPr/>
                    <a:lstStyle/>
                    <a:p>
                      <a:pPr marL="811530">
                        <a:lnSpc>
                          <a:spcPts val="1850"/>
                        </a:lnSpc>
                        <a:spcBef>
                          <a:spcPts val="1580"/>
                        </a:spcBef>
                      </a:pPr>
                      <a:r>
                        <a:rPr sz="1600" spc="-25" smtClean="0">
                          <a:latin typeface="+mn-lt"/>
                          <a:cs typeface="Times New Roman"/>
                        </a:rPr>
                        <a:t>1</a:t>
                      </a:r>
                      <a:r>
                        <a:rPr lang="en-US" sz="1600" spc="-25" dirty="0" smtClean="0">
                          <a:latin typeface="+mn-lt"/>
                          <a:cs typeface="Times New Roman"/>
                        </a:rPr>
                        <a:t>2</a:t>
                      </a:r>
                      <a:endParaRPr sz="1600">
                        <a:latin typeface="+mn-lt"/>
                        <a:cs typeface="Times New Roman"/>
                      </a:endParaRPr>
                    </a:p>
                  </a:txBody>
                  <a:tcPr marL="0" marR="0" marT="200660" marB="0"/>
                </a:tc>
              </a:tr>
            </a:tbl>
          </a:graphicData>
        </a:graphic>
      </p:graphicFrame>
      <p:sp>
        <p:nvSpPr>
          <p:cNvPr id="5" name="Rectangle 4"/>
          <p:cNvSpPr/>
          <p:nvPr/>
        </p:nvSpPr>
        <p:spPr>
          <a:xfrm>
            <a:off x="2514600" y="381001"/>
            <a:ext cx="3200400" cy="6096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304800" y="304800"/>
            <a:ext cx="7086600" cy="9372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3584195" y="9527458"/>
            <a:ext cx="153035" cy="153888"/>
          </a:xfrm>
          <a:prstGeom prst="rect">
            <a:avLst/>
          </a:prstGeom>
        </p:spPr>
        <p:txBody>
          <a:bodyPr vert="horz" wrap="square" lIns="0" tIns="0" rIns="0" bIns="0" rtlCol="0">
            <a:spAutoFit/>
          </a:bodyPr>
          <a:lstStyle/>
          <a:p>
            <a:pPr marL="38100">
              <a:lnSpc>
                <a:spcPts val="1200"/>
              </a:lnSpc>
            </a:pPr>
            <a:r>
              <a:rPr sz="1000" spc="-50" dirty="0">
                <a:latin typeface="Times New Roman"/>
                <a:cs typeface="Times New Roman"/>
              </a:rPr>
              <a:t>1</a:t>
            </a:r>
            <a:endParaRPr sz="1000">
              <a:latin typeface="Times New Roman"/>
              <a:cs typeface="Times New Roman"/>
            </a:endParaRPr>
          </a:p>
        </p:txBody>
      </p:sp>
      <p:sp>
        <p:nvSpPr>
          <p:cNvPr id="2" name="object 2"/>
          <p:cNvSpPr txBox="1"/>
          <p:nvPr/>
        </p:nvSpPr>
        <p:spPr>
          <a:xfrm>
            <a:off x="990600" y="685800"/>
            <a:ext cx="5638800" cy="8322150"/>
          </a:xfrm>
          <a:prstGeom prst="rect">
            <a:avLst/>
          </a:prstGeom>
        </p:spPr>
        <p:txBody>
          <a:bodyPr vert="horz" wrap="square" lIns="0" tIns="12065" rIns="0" bIns="0" rtlCol="0">
            <a:spAutoFit/>
          </a:bodyPr>
          <a:lstStyle/>
          <a:p>
            <a:pPr marR="166370" algn="ctr">
              <a:lnSpc>
                <a:spcPct val="150000"/>
              </a:lnSpc>
              <a:spcBef>
                <a:spcPts val="95"/>
              </a:spcBef>
            </a:pPr>
            <a:r>
              <a:rPr sz="2400" b="1" spc="-10" smtClean="0">
                <a:latin typeface="+mn-lt"/>
                <a:cs typeface="Times New Roman"/>
              </a:rPr>
              <a:t>INTRODUCTION</a:t>
            </a:r>
            <a:endParaRPr lang="en-US" sz="2400" b="1" spc="-10" dirty="0" smtClean="0">
              <a:latin typeface="+mn-lt"/>
              <a:cs typeface="Times New Roman"/>
            </a:endParaRPr>
          </a:p>
          <a:p>
            <a:pPr algn="l">
              <a:lnSpc>
                <a:spcPct val="150000"/>
              </a:lnSpc>
            </a:pPr>
            <a:r>
              <a:rPr lang="en-US" sz="1400" dirty="0" smtClean="0">
                <a:latin typeface="+mn-lt"/>
              </a:rPr>
              <a:t>A Hospital Management System (HMS) plays a vital role in improving the efficiency and quality of healthcare services by automating day-to-day operations within a hospital. In traditional hospital environments, many tasks such as maintaining patient records, scheduling appointments, and handling billing are performed manually, which often leads to errors, delays, and inconsistencies. To overcome these challenges, this project presents a computerized Hospital Management System developed using </a:t>
            </a:r>
            <a:r>
              <a:rPr lang="en-US" sz="1400" b="1" dirty="0" smtClean="0">
                <a:latin typeface="+mn-lt"/>
              </a:rPr>
              <a:t>Java</a:t>
            </a:r>
            <a:r>
              <a:rPr lang="en-US" sz="1400" dirty="0" smtClean="0">
                <a:latin typeface="+mn-lt"/>
              </a:rPr>
              <a:t>, </a:t>
            </a:r>
            <a:r>
              <a:rPr lang="en-US" sz="1400" b="1" dirty="0" smtClean="0">
                <a:latin typeface="+mn-lt"/>
              </a:rPr>
              <a:t>SQL</a:t>
            </a:r>
            <a:r>
              <a:rPr lang="en-US" sz="1400" dirty="0" smtClean="0">
                <a:latin typeface="+mn-lt"/>
              </a:rPr>
              <a:t>, and </a:t>
            </a:r>
            <a:r>
              <a:rPr lang="en-US" sz="1400" b="1" dirty="0" smtClean="0">
                <a:latin typeface="+mn-lt"/>
              </a:rPr>
              <a:t>JDBC</a:t>
            </a:r>
            <a:r>
              <a:rPr lang="en-US" sz="1400" dirty="0" smtClean="0">
                <a:latin typeface="+mn-lt"/>
              </a:rPr>
              <a:t>, providing an organized, reliable, and user-friendly platform for managing various hospital activities.</a:t>
            </a:r>
          </a:p>
          <a:p>
            <a:pPr algn="l">
              <a:lnSpc>
                <a:spcPct val="150000"/>
              </a:lnSpc>
            </a:pPr>
            <a:r>
              <a:rPr lang="en-US" sz="1400" dirty="0" smtClean="0">
                <a:latin typeface="+mn-lt"/>
              </a:rPr>
              <a:t>This system is built with Java as the front-end programming language due to its platform independence, strong security features, and object-oriented design structure. SQL is used as the backend database for storing and managing information related to patients, doctors, appointments, treatments, and payments. JDBC (Java Database Connectivity) acts as a bridge between the Java application and the SQL database, ensuring smooth and secure data transactions. Together, these technologies make the system robust, scalable, and capable of handling real-time hospital operations.</a:t>
            </a:r>
          </a:p>
          <a:p>
            <a:pPr algn="l">
              <a:lnSpc>
                <a:spcPct val="150000"/>
              </a:lnSpc>
            </a:pPr>
            <a:r>
              <a:rPr lang="en-US" sz="1400" dirty="0" smtClean="0">
                <a:latin typeface="+mn-lt"/>
              </a:rPr>
              <a:t>the effective use of Java technologies to solve real-world problems in the healthcare sector. By automating repetitive tasks and centralizing data management, the system enhances productivity, reduces operational costs, and contributes to a well-organized hospital environment. This project highlights the practical application of programming skills, database concepts, and software development techniques in creating a functional and meaningful solution.</a:t>
            </a:r>
            <a:endParaRPr lang="en-US" sz="1400" dirty="0">
              <a:latin typeface="+mn-lt"/>
            </a:endParaRPr>
          </a:p>
        </p:txBody>
      </p:sp>
      <p:sp>
        <p:nvSpPr>
          <p:cNvPr id="5" name="Rectangle 4"/>
          <p:cNvSpPr/>
          <p:nvPr/>
        </p:nvSpPr>
        <p:spPr>
          <a:xfrm>
            <a:off x="304800" y="304800"/>
            <a:ext cx="7086600" cy="9372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66800" y="609601"/>
            <a:ext cx="5617210" cy="7519365"/>
          </a:xfrm>
          <a:prstGeom prst="rect">
            <a:avLst/>
          </a:prstGeom>
        </p:spPr>
        <p:txBody>
          <a:bodyPr vert="horz" wrap="square" lIns="0" tIns="126364" rIns="0" bIns="0" rtlCol="0">
            <a:spAutoFit/>
          </a:bodyPr>
          <a:lstStyle/>
          <a:p>
            <a:pPr marR="165100" algn="ctr">
              <a:lnSpc>
                <a:spcPct val="100000"/>
              </a:lnSpc>
              <a:spcBef>
                <a:spcPts val="994"/>
              </a:spcBef>
            </a:pPr>
            <a:r>
              <a:rPr b="1" spc="-10" smtClean="0">
                <a:latin typeface="+mj-lt"/>
                <a:cs typeface="Times New Roman"/>
              </a:rPr>
              <a:t>OBJECTIVES</a:t>
            </a:r>
            <a:endParaRPr lang="en-US" b="1" spc="-10" dirty="0" smtClean="0">
              <a:latin typeface="+mj-lt"/>
              <a:cs typeface="Times New Roman"/>
            </a:endParaRPr>
          </a:p>
          <a:p>
            <a:pPr marR="165100" algn="ctr">
              <a:lnSpc>
                <a:spcPct val="100000"/>
              </a:lnSpc>
              <a:spcBef>
                <a:spcPts val="994"/>
              </a:spcBef>
            </a:pPr>
            <a:endParaRPr sz="1300">
              <a:latin typeface="Times New Roman"/>
              <a:cs typeface="Times New Roman"/>
            </a:endParaRPr>
          </a:p>
          <a:p>
            <a:pPr>
              <a:lnSpc>
                <a:spcPct val="150000"/>
              </a:lnSpc>
            </a:pPr>
            <a:r>
              <a:rPr lang="en-US" sz="1400" b="1" dirty="0" smtClean="0">
                <a:latin typeface="+mn-lt"/>
              </a:rPr>
              <a:t>To automate hospital operations</a:t>
            </a:r>
            <a:r>
              <a:rPr lang="en-US" sz="1400" dirty="0" smtClean="0">
                <a:latin typeface="+mn-lt"/>
              </a:rPr>
              <a:t> by replacing manual record-keeping with a computerized system that ensures faster and more efficient workflow.</a:t>
            </a:r>
          </a:p>
          <a:p>
            <a:pPr>
              <a:lnSpc>
                <a:spcPct val="150000"/>
              </a:lnSpc>
            </a:pPr>
            <a:r>
              <a:rPr lang="en-US" sz="1400" b="1" dirty="0" smtClean="0">
                <a:latin typeface="+mn-lt"/>
              </a:rPr>
              <a:t>To maintain accurate and organized patient records</a:t>
            </a:r>
            <a:r>
              <a:rPr lang="en-US" sz="1400" dirty="0" smtClean="0">
                <a:latin typeface="+mn-lt"/>
              </a:rPr>
              <a:t>, including personal details, medical history, treatment information, and billing data.</a:t>
            </a:r>
          </a:p>
          <a:p>
            <a:pPr>
              <a:lnSpc>
                <a:spcPct val="150000"/>
              </a:lnSpc>
            </a:pPr>
            <a:r>
              <a:rPr lang="en-US" sz="1400" b="1" dirty="0" smtClean="0">
                <a:latin typeface="+mn-lt"/>
              </a:rPr>
              <a:t>To simplify appointment scheduling</a:t>
            </a:r>
            <a:r>
              <a:rPr lang="en-US" sz="1400" dirty="0" smtClean="0">
                <a:latin typeface="+mn-lt"/>
              </a:rPr>
              <a:t> by allowing staff to efficiently manage doctor availability and reduce patient waiting time.</a:t>
            </a:r>
          </a:p>
          <a:p>
            <a:pPr>
              <a:lnSpc>
                <a:spcPct val="150000"/>
              </a:lnSpc>
            </a:pPr>
            <a:r>
              <a:rPr lang="en-US" sz="1400" b="1" dirty="0" smtClean="0">
                <a:latin typeface="+mn-lt"/>
              </a:rPr>
              <a:t>To support doctors and staff</a:t>
            </a:r>
            <a:r>
              <a:rPr lang="en-US" sz="1400" dirty="0" smtClean="0">
                <a:latin typeface="+mn-lt"/>
              </a:rPr>
              <a:t> by providing quick access to essential information such as patient history, diagnosis details, and treatment plans.</a:t>
            </a:r>
          </a:p>
          <a:p>
            <a:pPr>
              <a:lnSpc>
                <a:spcPct val="150000"/>
              </a:lnSpc>
            </a:pPr>
            <a:r>
              <a:rPr lang="en-US" sz="1400" b="1" dirty="0" smtClean="0">
                <a:latin typeface="+mn-lt"/>
              </a:rPr>
              <a:t>To ensure secure and reliable data management</a:t>
            </a:r>
            <a:r>
              <a:rPr lang="en-US" sz="1400" dirty="0" smtClean="0">
                <a:latin typeface="+mn-lt"/>
              </a:rPr>
              <a:t> using SQL databases and JDBC connectivity, preventing data loss and unauthorized access.</a:t>
            </a:r>
          </a:p>
          <a:p>
            <a:pPr>
              <a:lnSpc>
                <a:spcPct val="150000"/>
              </a:lnSpc>
            </a:pPr>
            <a:r>
              <a:rPr lang="en-US" sz="1400" b="1" dirty="0" smtClean="0">
                <a:latin typeface="+mn-lt"/>
              </a:rPr>
              <a:t>To reduce human errors</a:t>
            </a:r>
            <a:r>
              <a:rPr lang="en-US" sz="1400" dirty="0" smtClean="0">
                <a:latin typeface="+mn-lt"/>
              </a:rPr>
              <a:t> related to documentation, calculations, and data entry through automated processes.</a:t>
            </a:r>
          </a:p>
          <a:p>
            <a:pPr>
              <a:lnSpc>
                <a:spcPct val="150000"/>
              </a:lnSpc>
            </a:pPr>
            <a:r>
              <a:rPr lang="en-US" sz="1400" b="1" dirty="0" smtClean="0">
                <a:latin typeface="+mn-lt"/>
              </a:rPr>
              <a:t>To streamline administrative tasks</a:t>
            </a:r>
            <a:r>
              <a:rPr lang="en-US" sz="1400" dirty="0" smtClean="0">
                <a:latin typeface="+mn-lt"/>
              </a:rPr>
              <a:t>, including doctor management, room allocation, discharge process, and billing generation.</a:t>
            </a:r>
          </a:p>
          <a:p>
            <a:pPr>
              <a:lnSpc>
                <a:spcPct val="150000"/>
              </a:lnSpc>
            </a:pPr>
            <a:r>
              <a:rPr lang="en-US" sz="1400" b="1" dirty="0" smtClean="0">
                <a:latin typeface="+mn-lt"/>
              </a:rPr>
              <a:t>To improve decision-making for hospital administrators</a:t>
            </a:r>
            <a:r>
              <a:rPr lang="en-US" sz="1400" dirty="0" smtClean="0">
                <a:latin typeface="+mn-lt"/>
              </a:rPr>
              <a:t> by generating detailed reports on patients, doctors, treatments, and finances.</a:t>
            </a:r>
          </a:p>
          <a:p>
            <a:pPr>
              <a:lnSpc>
                <a:spcPct val="150000"/>
              </a:lnSpc>
            </a:pPr>
            <a:r>
              <a:rPr lang="en-US" sz="1400" b="1" dirty="0" smtClean="0">
                <a:latin typeface="+mn-lt"/>
              </a:rPr>
              <a:t>To develop a user-friendly interface</a:t>
            </a:r>
            <a:r>
              <a:rPr lang="en-US" sz="1400" dirty="0" smtClean="0">
                <a:latin typeface="+mn-lt"/>
              </a:rPr>
              <a:t> using Java that helps staff members operate the system easily with minimal technical knowledge.</a:t>
            </a:r>
          </a:p>
          <a:p>
            <a:pPr>
              <a:lnSpc>
                <a:spcPct val="150000"/>
              </a:lnSpc>
            </a:pPr>
            <a:r>
              <a:rPr lang="en-US" sz="1400" b="1" dirty="0" smtClean="0">
                <a:latin typeface="+mn-lt"/>
              </a:rPr>
              <a:t>To create a scalable system</a:t>
            </a:r>
            <a:r>
              <a:rPr lang="en-US" sz="1400" dirty="0" smtClean="0">
                <a:latin typeface="+mn-lt"/>
              </a:rPr>
              <a:t> that can be expanded in the future with additional modules such as pharmacy management, laboratory services, and online patient portals</a:t>
            </a:r>
            <a:r>
              <a:rPr lang="en-US" sz="1400" dirty="0" smtClean="0"/>
              <a:t>.</a:t>
            </a:r>
            <a:endParaRPr lang="en-US" sz="1400" dirty="0"/>
          </a:p>
        </p:txBody>
      </p:sp>
      <p:sp>
        <p:nvSpPr>
          <p:cNvPr id="3" name="object 3"/>
          <p:cNvSpPr txBox="1"/>
          <p:nvPr/>
        </p:nvSpPr>
        <p:spPr>
          <a:xfrm>
            <a:off x="3762248" y="9361119"/>
            <a:ext cx="89535" cy="167354"/>
          </a:xfrm>
          <a:prstGeom prst="rect">
            <a:avLst/>
          </a:prstGeom>
        </p:spPr>
        <p:txBody>
          <a:bodyPr vert="horz" wrap="square" lIns="0" tIns="13335" rIns="0" bIns="0" rtlCol="0">
            <a:spAutoFit/>
          </a:bodyPr>
          <a:lstStyle/>
          <a:p>
            <a:pPr marL="12700">
              <a:lnSpc>
                <a:spcPct val="100000"/>
              </a:lnSpc>
              <a:spcBef>
                <a:spcPts val="105"/>
              </a:spcBef>
            </a:pPr>
            <a:r>
              <a:rPr sz="1000" spc="-50" dirty="0">
                <a:latin typeface="Times New Roman"/>
                <a:cs typeface="Times New Roman"/>
              </a:rPr>
              <a:t>3</a:t>
            </a:r>
            <a:endParaRPr sz="1000">
              <a:latin typeface="Times New Roman"/>
              <a:cs typeface="Times New Roman"/>
            </a:endParaRPr>
          </a:p>
        </p:txBody>
      </p:sp>
      <p:sp>
        <p:nvSpPr>
          <p:cNvPr id="4" name="Rectangle 3"/>
          <p:cNvSpPr/>
          <p:nvPr/>
        </p:nvSpPr>
        <p:spPr>
          <a:xfrm>
            <a:off x="304800" y="304800"/>
            <a:ext cx="7086600" cy="9372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762001" y="749556"/>
            <a:ext cx="6087795" cy="321883"/>
          </a:xfrm>
          <a:prstGeom prst="rect">
            <a:avLst/>
          </a:prstGeom>
        </p:spPr>
        <p:txBody>
          <a:bodyPr vert="horz" wrap="square" lIns="0" tIns="13970" rIns="0" bIns="0" rtlCol="0">
            <a:spAutoFit/>
          </a:bodyPr>
          <a:lstStyle/>
          <a:p>
            <a:pPr marL="42545" algn="ctr">
              <a:lnSpc>
                <a:spcPct val="100000"/>
              </a:lnSpc>
              <a:spcBef>
                <a:spcPts val="110"/>
              </a:spcBef>
            </a:pPr>
            <a:r>
              <a:rPr lang="en-US" sz="2000" b="1" spc="-10" dirty="0" smtClean="0">
                <a:latin typeface="+mj-lt"/>
                <a:cs typeface="Times New Roman"/>
              </a:rPr>
              <a:t>Project Category</a:t>
            </a:r>
            <a:endParaRPr sz="2000">
              <a:latin typeface="+mj-lt"/>
              <a:cs typeface="Times New Roman"/>
            </a:endParaRPr>
          </a:p>
        </p:txBody>
      </p:sp>
      <p:sp>
        <p:nvSpPr>
          <p:cNvPr id="3" name="object 3"/>
          <p:cNvSpPr txBox="1"/>
          <p:nvPr/>
        </p:nvSpPr>
        <p:spPr>
          <a:xfrm>
            <a:off x="3762248" y="9665919"/>
            <a:ext cx="89535" cy="167354"/>
          </a:xfrm>
          <a:prstGeom prst="rect">
            <a:avLst/>
          </a:prstGeom>
        </p:spPr>
        <p:txBody>
          <a:bodyPr vert="horz" wrap="square" lIns="0" tIns="13335" rIns="0" bIns="0" rtlCol="0">
            <a:spAutoFit/>
          </a:bodyPr>
          <a:lstStyle/>
          <a:p>
            <a:pPr marL="12700">
              <a:lnSpc>
                <a:spcPct val="100000"/>
              </a:lnSpc>
              <a:spcBef>
                <a:spcPts val="105"/>
              </a:spcBef>
            </a:pPr>
            <a:r>
              <a:rPr sz="1000" spc="-50" dirty="0">
                <a:latin typeface="Times New Roman"/>
                <a:cs typeface="Times New Roman"/>
              </a:rPr>
              <a:t>4</a:t>
            </a:r>
            <a:endParaRPr sz="1000">
              <a:latin typeface="Times New Roman"/>
              <a:cs typeface="Times New Roman"/>
            </a:endParaRPr>
          </a:p>
        </p:txBody>
      </p:sp>
      <p:sp>
        <p:nvSpPr>
          <p:cNvPr id="5" name="TextBox 4"/>
          <p:cNvSpPr txBox="1"/>
          <p:nvPr/>
        </p:nvSpPr>
        <p:spPr>
          <a:xfrm>
            <a:off x="609601" y="1447799"/>
            <a:ext cx="6553200" cy="6509474"/>
          </a:xfrm>
          <a:prstGeom prst="rect">
            <a:avLst/>
          </a:prstGeom>
          <a:noFill/>
        </p:spPr>
        <p:txBody>
          <a:bodyPr wrap="square" rtlCol="0">
            <a:spAutoFit/>
          </a:bodyPr>
          <a:lstStyle/>
          <a:p>
            <a:pPr>
              <a:lnSpc>
                <a:spcPct val="150000"/>
              </a:lnSpc>
            </a:pPr>
            <a:r>
              <a:rPr lang="en-US" sz="1400" dirty="0" smtClean="0">
                <a:latin typeface="+mn-lt"/>
              </a:rPr>
              <a:t>The Hospital Management System falls under the category </a:t>
            </a:r>
          </a:p>
          <a:p>
            <a:pPr>
              <a:lnSpc>
                <a:spcPct val="150000"/>
              </a:lnSpc>
            </a:pPr>
            <a:r>
              <a:rPr lang="en-US" sz="1400" dirty="0" smtClean="0">
                <a:latin typeface="+mn-lt"/>
              </a:rPr>
              <a:t>of </a:t>
            </a:r>
            <a:r>
              <a:rPr lang="en-US" sz="1400" b="1" dirty="0" smtClean="0">
                <a:latin typeface="+mn-lt"/>
              </a:rPr>
              <a:t>Management Information System (MIS)</a:t>
            </a:r>
            <a:r>
              <a:rPr lang="en-US" sz="1400" dirty="0" smtClean="0">
                <a:latin typeface="+mn-lt"/>
              </a:rPr>
              <a:t> or </a:t>
            </a:r>
            <a:r>
              <a:rPr lang="en-US" sz="1400" b="1" dirty="0" smtClean="0">
                <a:latin typeface="+mn-lt"/>
              </a:rPr>
              <a:t>Healthcare Management Software</a:t>
            </a:r>
            <a:r>
              <a:rPr lang="en-US" sz="1400" dirty="0" smtClean="0">
                <a:latin typeface="+mn-lt"/>
              </a:rPr>
              <a:t>. It is primarily a </a:t>
            </a:r>
            <a:r>
              <a:rPr lang="en-US" sz="1400" b="1" dirty="0" smtClean="0">
                <a:latin typeface="+mn-lt"/>
              </a:rPr>
              <a:t>Database-Driven Application</a:t>
            </a:r>
            <a:r>
              <a:rPr lang="en-US" sz="1400" dirty="0" smtClean="0">
                <a:latin typeface="+mn-lt"/>
              </a:rPr>
              <a:t> that integrates </a:t>
            </a:r>
          </a:p>
          <a:p>
            <a:pPr>
              <a:lnSpc>
                <a:spcPct val="150000"/>
              </a:lnSpc>
            </a:pPr>
            <a:r>
              <a:rPr lang="en-US" sz="1400" b="1" dirty="0" smtClean="0">
                <a:latin typeface="+mn-lt"/>
              </a:rPr>
              <a:t>software development, database management, and system automation</a:t>
            </a:r>
            <a:r>
              <a:rPr lang="en-US" sz="1400" dirty="0" smtClean="0">
                <a:latin typeface="+mn-lt"/>
              </a:rPr>
              <a:t> to improve organizational efficiency in a healthcare environment.</a:t>
            </a:r>
          </a:p>
          <a:p>
            <a:pPr>
              <a:lnSpc>
                <a:spcPct val="150000"/>
              </a:lnSpc>
            </a:pPr>
            <a:r>
              <a:rPr lang="en-US" sz="1400" dirty="0" smtClean="0">
                <a:latin typeface="+mn-lt"/>
              </a:rPr>
              <a:t>Key points about the project category:</a:t>
            </a:r>
          </a:p>
          <a:p>
            <a:pPr>
              <a:lnSpc>
                <a:spcPct val="150000"/>
              </a:lnSpc>
            </a:pPr>
            <a:r>
              <a:rPr lang="en-US" sz="1400" b="1" dirty="0" smtClean="0">
                <a:latin typeface="+mn-lt"/>
              </a:rPr>
              <a:t>Type of Software:</a:t>
            </a:r>
            <a:r>
              <a:rPr lang="en-US" sz="1400" dirty="0" smtClean="0">
                <a:latin typeface="+mn-lt"/>
              </a:rPr>
              <a:t> Desktop-based application (can be later extended to web-based or cloud-based).</a:t>
            </a:r>
          </a:p>
          <a:p>
            <a:pPr>
              <a:lnSpc>
                <a:spcPct val="150000"/>
              </a:lnSpc>
            </a:pPr>
            <a:r>
              <a:rPr lang="en-US" sz="1400" b="1" dirty="0" smtClean="0">
                <a:latin typeface="+mn-lt"/>
              </a:rPr>
              <a:t>Application Domain:</a:t>
            </a:r>
            <a:r>
              <a:rPr lang="en-US" sz="1400" dirty="0" smtClean="0">
                <a:latin typeface="+mn-lt"/>
              </a:rPr>
              <a:t> Healthcare and hospital administration.</a:t>
            </a:r>
          </a:p>
          <a:p>
            <a:pPr>
              <a:lnSpc>
                <a:spcPct val="150000"/>
              </a:lnSpc>
            </a:pPr>
            <a:r>
              <a:rPr lang="en-US" sz="1400" b="1" dirty="0" smtClean="0">
                <a:latin typeface="+mn-lt"/>
              </a:rPr>
              <a:t>Technology Category:</a:t>
            </a:r>
            <a:endParaRPr lang="en-US" sz="1400" dirty="0" smtClean="0">
              <a:latin typeface="+mn-lt"/>
            </a:endParaRPr>
          </a:p>
          <a:p>
            <a:pPr lvl="1">
              <a:lnSpc>
                <a:spcPct val="150000"/>
              </a:lnSpc>
            </a:pPr>
            <a:r>
              <a:rPr lang="en-US" sz="1400" b="1" dirty="0" smtClean="0">
                <a:latin typeface="+mn-lt"/>
              </a:rPr>
              <a:t>Programming Language:</a:t>
            </a:r>
            <a:r>
              <a:rPr lang="en-US" sz="1400" dirty="0" smtClean="0">
                <a:latin typeface="+mn-lt"/>
              </a:rPr>
              <a:t> Java (for front-end and business logic)</a:t>
            </a:r>
          </a:p>
          <a:p>
            <a:pPr lvl="1">
              <a:lnSpc>
                <a:spcPct val="150000"/>
              </a:lnSpc>
            </a:pPr>
            <a:r>
              <a:rPr lang="en-US" sz="1400" b="1" dirty="0" smtClean="0">
                <a:latin typeface="+mn-lt"/>
              </a:rPr>
              <a:t>Database Management System:</a:t>
            </a:r>
            <a:r>
              <a:rPr lang="en-US" sz="1400" dirty="0" smtClean="0">
                <a:latin typeface="+mn-lt"/>
              </a:rPr>
              <a:t> SQL (for storing and managing data)</a:t>
            </a:r>
          </a:p>
          <a:p>
            <a:pPr lvl="1">
              <a:lnSpc>
                <a:spcPct val="150000"/>
              </a:lnSpc>
            </a:pPr>
            <a:r>
              <a:rPr lang="en-US" sz="1400" b="1" dirty="0" smtClean="0">
                <a:latin typeface="+mn-lt"/>
              </a:rPr>
              <a:t>Connectivity:</a:t>
            </a:r>
            <a:r>
              <a:rPr lang="en-US" sz="1400" dirty="0" smtClean="0">
                <a:latin typeface="+mn-lt"/>
              </a:rPr>
              <a:t> JDBC (for communication between Java application and database)</a:t>
            </a:r>
          </a:p>
          <a:p>
            <a:pPr>
              <a:lnSpc>
                <a:spcPct val="150000"/>
              </a:lnSpc>
            </a:pPr>
            <a:r>
              <a:rPr lang="en-US" sz="1400" b="1" dirty="0" smtClean="0">
                <a:latin typeface="+mn-lt"/>
              </a:rPr>
              <a:t>Functional Category:</a:t>
            </a:r>
            <a:r>
              <a:rPr lang="en-US" sz="1400" dirty="0" smtClean="0">
                <a:latin typeface="+mn-lt"/>
              </a:rPr>
              <a:t> </a:t>
            </a:r>
            <a:r>
              <a:rPr lang="en-US" sz="1400" b="1" dirty="0" smtClean="0">
                <a:latin typeface="+mn-lt"/>
              </a:rPr>
              <a:t>Administrative Management </a:t>
            </a:r>
          </a:p>
          <a:p>
            <a:pPr>
              <a:lnSpc>
                <a:spcPct val="150000"/>
              </a:lnSpc>
            </a:pPr>
            <a:r>
              <a:rPr lang="en-US" sz="1400" b="1" dirty="0" smtClean="0">
                <a:latin typeface="+mn-lt"/>
              </a:rPr>
              <a:t>System</a:t>
            </a:r>
            <a:r>
              <a:rPr lang="en-US" sz="1400" dirty="0" smtClean="0">
                <a:latin typeface="+mn-lt"/>
              </a:rPr>
              <a:t>, as it focuses on hospital operations like patient management, doctor management, appointment scheduling, </a:t>
            </a:r>
            <a:r>
              <a:rPr lang="en-US" sz="1400" dirty="0">
                <a:latin typeface="+mn-lt"/>
              </a:rPr>
              <a:t>a</a:t>
            </a:r>
            <a:r>
              <a:rPr lang="en-US" sz="1400" dirty="0" smtClean="0">
                <a:latin typeface="+mn-lt"/>
              </a:rPr>
              <a:t>nd reporting.</a:t>
            </a:r>
          </a:p>
          <a:p>
            <a:pPr>
              <a:lnSpc>
                <a:spcPct val="150000"/>
              </a:lnSpc>
            </a:pPr>
            <a:r>
              <a:rPr lang="en-US" sz="1400" b="1" dirty="0" smtClean="0">
                <a:latin typeface="+mn-lt"/>
              </a:rPr>
              <a:t>Purpose:</a:t>
            </a:r>
            <a:r>
              <a:rPr lang="en-US" sz="1400" dirty="0" smtClean="0">
                <a:latin typeface="+mn-lt"/>
              </a:rPr>
              <a:t> Improves operational efficiency, reduces </a:t>
            </a:r>
          </a:p>
          <a:p>
            <a:pPr>
              <a:lnSpc>
                <a:spcPct val="150000"/>
              </a:lnSpc>
            </a:pPr>
            <a:r>
              <a:rPr lang="en-US" sz="1400" dirty="0" smtClean="0">
                <a:latin typeface="+mn-lt"/>
              </a:rPr>
              <a:t>human error, and ensures secure and structured data </a:t>
            </a:r>
          </a:p>
          <a:p>
            <a:pPr>
              <a:lnSpc>
                <a:spcPct val="150000"/>
              </a:lnSpc>
            </a:pPr>
            <a:r>
              <a:rPr lang="en-US" sz="1400" dirty="0" smtClean="0">
                <a:latin typeface="+mn-lt"/>
              </a:rPr>
              <a:t>management in hospitals.</a:t>
            </a:r>
          </a:p>
          <a:p>
            <a:pPr algn="r"/>
            <a:endParaRPr lang="en-US" dirty="0"/>
          </a:p>
        </p:txBody>
      </p:sp>
      <p:sp>
        <p:nvSpPr>
          <p:cNvPr id="6" name="Rectangle 5"/>
          <p:cNvSpPr/>
          <p:nvPr/>
        </p:nvSpPr>
        <p:spPr>
          <a:xfrm>
            <a:off x="304800" y="304800"/>
            <a:ext cx="7086600" cy="9372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4756659" y="5015484"/>
            <a:ext cx="268224" cy="198120"/>
          </a:xfrm>
          <a:prstGeom prst="rect">
            <a:avLst/>
          </a:prstGeom>
        </p:spPr>
      </p:pic>
      <p:pic>
        <p:nvPicPr>
          <p:cNvPr id="3" name="object 3"/>
          <p:cNvPicPr/>
          <p:nvPr/>
        </p:nvPicPr>
        <p:blipFill>
          <a:blip r:embed="rId2" cstate="print"/>
          <a:stretch>
            <a:fillRect/>
          </a:stretch>
        </p:blipFill>
        <p:spPr>
          <a:xfrm>
            <a:off x="2347848" y="5655817"/>
            <a:ext cx="268224" cy="198120"/>
          </a:xfrm>
          <a:prstGeom prst="rect">
            <a:avLst/>
          </a:prstGeom>
        </p:spPr>
      </p:pic>
      <p:sp>
        <p:nvSpPr>
          <p:cNvPr id="4" name="object 4"/>
          <p:cNvSpPr txBox="1"/>
          <p:nvPr/>
        </p:nvSpPr>
        <p:spPr>
          <a:xfrm>
            <a:off x="838200" y="762002"/>
            <a:ext cx="5469890" cy="957955"/>
          </a:xfrm>
          <a:prstGeom prst="rect">
            <a:avLst/>
          </a:prstGeom>
        </p:spPr>
        <p:txBody>
          <a:bodyPr vert="horz" wrap="square" lIns="0" tIns="11430" rIns="0" bIns="0" rtlCol="0">
            <a:spAutoFit/>
          </a:bodyPr>
          <a:lstStyle/>
          <a:p>
            <a:pPr marR="294005" algn="ctr">
              <a:lnSpc>
                <a:spcPct val="100000"/>
              </a:lnSpc>
              <a:spcBef>
                <a:spcPts val="90"/>
              </a:spcBef>
            </a:pPr>
            <a:r>
              <a:rPr lang="en-US" sz="2000" b="1" dirty="0" smtClean="0">
                <a:latin typeface="+mj-lt"/>
                <a:cs typeface="Times New Roman"/>
              </a:rPr>
              <a:t>Analysis</a:t>
            </a:r>
          </a:p>
          <a:p>
            <a:pPr marR="294005" algn="ctr">
              <a:lnSpc>
                <a:spcPct val="100000"/>
              </a:lnSpc>
              <a:spcBef>
                <a:spcPts val="90"/>
              </a:spcBef>
            </a:pPr>
            <a:endParaRPr sz="2000">
              <a:latin typeface="Times New Roman"/>
              <a:cs typeface="Times New Roman"/>
            </a:endParaRPr>
          </a:p>
          <a:p>
            <a:pPr marL="12700">
              <a:lnSpc>
                <a:spcPct val="100000"/>
              </a:lnSpc>
              <a:spcBef>
                <a:spcPts val="840"/>
              </a:spcBef>
            </a:pPr>
            <a:r>
              <a:rPr sz="1400" spc="40" smtClean="0">
                <a:latin typeface="Cambria"/>
                <a:cs typeface="Cambria"/>
              </a:rPr>
              <a:t>.</a:t>
            </a:r>
            <a:endParaRPr sz="1400">
              <a:latin typeface="Cambria"/>
              <a:cs typeface="Cambria"/>
            </a:endParaRPr>
          </a:p>
        </p:txBody>
      </p:sp>
      <p:sp>
        <p:nvSpPr>
          <p:cNvPr id="5" name="object 5"/>
          <p:cNvSpPr txBox="1"/>
          <p:nvPr/>
        </p:nvSpPr>
        <p:spPr>
          <a:xfrm>
            <a:off x="3584195" y="9603658"/>
            <a:ext cx="153035" cy="153888"/>
          </a:xfrm>
          <a:prstGeom prst="rect">
            <a:avLst/>
          </a:prstGeom>
        </p:spPr>
        <p:txBody>
          <a:bodyPr vert="horz" wrap="square" lIns="0" tIns="0" rIns="0" bIns="0" rtlCol="0">
            <a:spAutoFit/>
          </a:bodyPr>
          <a:lstStyle/>
          <a:p>
            <a:pPr marL="38100">
              <a:lnSpc>
                <a:spcPts val="1200"/>
              </a:lnSpc>
            </a:pPr>
            <a:r>
              <a:rPr sz="1000" spc="-50" dirty="0">
                <a:latin typeface="Times New Roman"/>
                <a:cs typeface="Times New Roman"/>
              </a:rPr>
              <a:t>5</a:t>
            </a:r>
            <a:endParaRPr sz="1000">
              <a:latin typeface="Times New Roman"/>
              <a:cs typeface="Times New Roman"/>
            </a:endParaRPr>
          </a:p>
        </p:txBody>
      </p:sp>
      <p:sp>
        <p:nvSpPr>
          <p:cNvPr id="6" name="TextBox 5"/>
          <p:cNvSpPr txBox="1"/>
          <p:nvPr/>
        </p:nvSpPr>
        <p:spPr>
          <a:xfrm>
            <a:off x="1143001" y="1443634"/>
            <a:ext cx="3188693" cy="8614767"/>
          </a:xfrm>
          <a:prstGeom prst="rect">
            <a:avLst/>
          </a:prstGeom>
          <a:noFill/>
        </p:spPr>
        <p:txBody>
          <a:bodyPr wrap="square" rtlCol="0">
            <a:spAutoFit/>
          </a:bodyPr>
          <a:lstStyle/>
          <a:p>
            <a:pPr algn="l">
              <a:lnSpc>
                <a:spcPct val="150000"/>
              </a:lnSpc>
            </a:pPr>
            <a:r>
              <a:rPr lang="en-US" b="1" dirty="0" smtClean="0">
                <a:latin typeface="+mn-lt"/>
              </a:rPr>
              <a:t>a)Modules and Description</a:t>
            </a:r>
          </a:p>
          <a:p>
            <a:pPr algn="l">
              <a:lnSpc>
                <a:spcPct val="150000"/>
              </a:lnSpc>
            </a:pPr>
            <a:r>
              <a:rPr lang="en-US" b="1" dirty="0" smtClean="0">
                <a:latin typeface="+mn-lt"/>
              </a:rPr>
              <a:t>1.Patient Management Module</a:t>
            </a:r>
          </a:p>
          <a:p>
            <a:pPr algn="l">
              <a:lnSpc>
                <a:spcPct val="150000"/>
              </a:lnSpc>
            </a:pPr>
            <a:r>
              <a:rPr lang="en-US" sz="1600" b="1" dirty="0" smtClean="0">
                <a:latin typeface="+mn-lt"/>
              </a:rPr>
              <a:t>   </a:t>
            </a:r>
            <a:r>
              <a:rPr lang="en-US" b="1" dirty="0" smtClean="0">
                <a:latin typeface="+mn-lt"/>
              </a:rPr>
              <a:t>● Add  Patient</a:t>
            </a:r>
          </a:p>
          <a:p>
            <a:pPr algn="l">
              <a:lnSpc>
                <a:spcPct val="150000"/>
              </a:lnSpc>
              <a:buClr>
                <a:schemeClr val="tx1"/>
              </a:buClr>
              <a:buSzPct val="150000"/>
            </a:pPr>
            <a:r>
              <a:rPr lang="en-US" b="1" dirty="0">
                <a:latin typeface="+mn-lt"/>
              </a:rPr>
              <a:t> </a:t>
            </a:r>
            <a:r>
              <a:rPr lang="en-US" b="1" dirty="0" smtClean="0">
                <a:latin typeface="+mn-lt"/>
              </a:rPr>
              <a:t>  ● View Patient</a:t>
            </a:r>
          </a:p>
          <a:p>
            <a:pPr algn="l">
              <a:lnSpc>
                <a:spcPct val="150000"/>
              </a:lnSpc>
              <a:buClr>
                <a:schemeClr val="tx1"/>
              </a:buClr>
              <a:buSzPct val="150000"/>
            </a:pPr>
            <a:r>
              <a:rPr lang="en-US" b="1" dirty="0">
                <a:latin typeface="+mn-lt"/>
              </a:rPr>
              <a:t> </a:t>
            </a:r>
            <a:r>
              <a:rPr lang="en-US" b="1" dirty="0" smtClean="0">
                <a:latin typeface="+mn-lt"/>
              </a:rPr>
              <a:t>  ● Update Patient</a:t>
            </a:r>
          </a:p>
          <a:p>
            <a:pPr algn="l">
              <a:lnSpc>
                <a:spcPct val="150000"/>
              </a:lnSpc>
              <a:buClr>
                <a:schemeClr val="tx1"/>
              </a:buClr>
              <a:buSzPct val="150000"/>
            </a:pPr>
            <a:r>
              <a:rPr lang="en-US" b="1" dirty="0">
                <a:latin typeface="+mn-lt"/>
              </a:rPr>
              <a:t> </a:t>
            </a:r>
            <a:r>
              <a:rPr lang="en-US" b="1" dirty="0" smtClean="0">
                <a:latin typeface="+mn-lt"/>
              </a:rPr>
              <a:t>  ● Delete Patient</a:t>
            </a:r>
          </a:p>
          <a:p>
            <a:pPr algn="l">
              <a:lnSpc>
                <a:spcPct val="150000"/>
              </a:lnSpc>
              <a:buClr>
                <a:schemeClr val="tx1"/>
              </a:buClr>
              <a:buSzPct val="150000"/>
            </a:pPr>
            <a:endParaRPr lang="en-US" sz="1600" b="1" dirty="0" smtClean="0">
              <a:latin typeface="+mn-lt"/>
            </a:endParaRPr>
          </a:p>
          <a:p>
            <a:pPr algn="l">
              <a:lnSpc>
                <a:spcPct val="150000"/>
              </a:lnSpc>
              <a:buClr>
                <a:schemeClr val="tx1"/>
              </a:buClr>
              <a:buSzPct val="150000"/>
            </a:pPr>
            <a:r>
              <a:rPr lang="en-US" b="1" dirty="0" smtClean="0">
                <a:latin typeface="+mn-lt"/>
              </a:rPr>
              <a:t>2.Doctor Management Module</a:t>
            </a:r>
          </a:p>
          <a:p>
            <a:pPr algn="l">
              <a:lnSpc>
                <a:spcPct val="150000"/>
              </a:lnSpc>
            </a:pPr>
            <a:r>
              <a:rPr lang="en-US" sz="1600" b="1" dirty="0">
                <a:latin typeface="+mn-lt"/>
              </a:rPr>
              <a:t> </a:t>
            </a:r>
            <a:r>
              <a:rPr lang="en-US" sz="1600" b="1" dirty="0" smtClean="0">
                <a:latin typeface="+mn-lt"/>
              </a:rPr>
              <a:t>  </a:t>
            </a:r>
            <a:r>
              <a:rPr lang="en-US" b="1" dirty="0" smtClean="0">
                <a:latin typeface="+mn-lt"/>
              </a:rPr>
              <a:t>●   Add  Doctor</a:t>
            </a:r>
          </a:p>
          <a:p>
            <a:pPr algn="l">
              <a:lnSpc>
                <a:spcPct val="150000"/>
              </a:lnSpc>
              <a:buClr>
                <a:schemeClr val="tx1"/>
              </a:buClr>
              <a:buSzPct val="150000"/>
            </a:pPr>
            <a:r>
              <a:rPr lang="en-US" b="1" dirty="0" smtClean="0">
                <a:latin typeface="+mn-lt"/>
              </a:rPr>
              <a:t>   ●  View Doctor</a:t>
            </a:r>
          </a:p>
          <a:p>
            <a:pPr algn="l">
              <a:lnSpc>
                <a:spcPct val="150000"/>
              </a:lnSpc>
              <a:buClr>
                <a:schemeClr val="tx1"/>
              </a:buClr>
              <a:buSzPct val="150000"/>
            </a:pPr>
            <a:r>
              <a:rPr lang="en-US" b="1" dirty="0" smtClean="0">
                <a:latin typeface="+mn-lt"/>
              </a:rPr>
              <a:t>   ●  Update Doctor</a:t>
            </a:r>
          </a:p>
          <a:p>
            <a:pPr algn="l">
              <a:lnSpc>
                <a:spcPct val="150000"/>
              </a:lnSpc>
              <a:buClr>
                <a:schemeClr val="tx1"/>
              </a:buClr>
              <a:buSzPct val="150000"/>
            </a:pPr>
            <a:r>
              <a:rPr lang="en-US" b="1" dirty="0" smtClean="0">
                <a:latin typeface="+mn-lt"/>
              </a:rPr>
              <a:t>   ●  Delete Doctor</a:t>
            </a:r>
          </a:p>
          <a:p>
            <a:pPr algn="l">
              <a:lnSpc>
                <a:spcPct val="150000"/>
              </a:lnSpc>
              <a:buClr>
                <a:schemeClr val="tx1"/>
              </a:buClr>
              <a:buSzPct val="150000"/>
            </a:pPr>
            <a:endParaRPr lang="en-US" sz="1600" b="1" dirty="0">
              <a:latin typeface="+mn-lt"/>
            </a:endParaRPr>
          </a:p>
          <a:p>
            <a:pPr algn="l">
              <a:lnSpc>
                <a:spcPct val="150000"/>
              </a:lnSpc>
              <a:buClr>
                <a:schemeClr val="tx1"/>
              </a:buClr>
              <a:buSzPct val="150000"/>
            </a:pPr>
            <a:r>
              <a:rPr lang="en-US" b="1" dirty="0" smtClean="0">
                <a:latin typeface="+mn-lt"/>
              </a:rPr>
              <a:t>3. Staff  Management Module</a:t>
            </a:r>
          </a:p>
          <a:p>
            <a:pPr algn="l">
              <a:lnSpc>
                <a:spcPct val="150000"/>
              </a:lnSpc>
              <a:buClr>
                <a:schemeClr val="tx1"/>
              </a:buClr>
              <a:buSzPct val="150000"/>
            </a:pPr>
            <a:r>
              <a:rPr lang="en-US" sz="1600" b="1" dirty="0" smtClean="0">
                <a:latin typeface="+mn-lt"/>
              </a:rPr>
              <a:t>   </a:t>
            </a:r>
            <a:r>
              <a:rPr lang="en-US" b="1" dirty="0" smtClean="0">
                <a:latin typeface="+mn-lt"/>
              </a:rPr>
              <a:t>● Add Staff</a:t>
            </a:r>
          </a:p>
          <a:p>
            <a:pPr algn="l">
              <a:lnSpc>
                <a:spcPct val="150000"/>
              </a:lnSpc>
              <a:buClr>
                <a:schemeClr val="tx1"/>
              </a:buClr>
              <a:buSzPct val="150000"/>
            </a:pPr>
            <a:r>
              <a:rPr lang="en-US" b="1" dirty="0">
                <a:latin typeface="+mn-lt"/>
              </a:rPr>
              <a:t> </a:t>
            </a:r>
            <a:r>
              <a:rPr lang="en-US" b="1" dirty="0" smtClean="0">
                <a:latin typeface="+mn-lt"/>
              </a:rPr>
              <a:t>  ● View Staff</a:t>
            </a:r>
          </a:p>
          <a:p>
            <a:pPr algn="l">
              <a:lnSpc>
                <a:spcPct val="150000"/>
              </a:lnSpc>
              <a:buClr>
                <a:schemeClr val="tx1"/>
              </a:buClr>
              <a:buSzPct val="150000"/>
            </a:pPr>
            <a:r>
              <a:rPr lang="en-US" b="1" dirty="0" smtClean="0">
                <a:latin typeface="+mn-lt"/>
              </a:rPr>
              <a:t>   ● Update Staff</a:t>
            </a:r>
          </a:p>
          <a:p>
            <a:pPr algn="l">
              <a:lnSpc>
                <a:spcPct val="150000"/>
              </a:lnSpc>
              <a:buClr>
                <a:schemeClr val="tx1"/>
              </a:buClr>
              <a:buSzPct val="150000"/>
            </a:pPr>
            <a:r>
              <a:rPr lang="en-US" b="1" dirty="0">
                <a:latin typeface="+mn-lt"/>
              </a:rPr>
              <a:t> </a:t>
            </a:r>
            <a:r>
              <a:rPr lang="en-US" b="1" dirty="0" smtClean="0">
                <a:latin typeface="+mn-lt"/>
              </a:rPr>
              <a:t>  ● Delete Staff</a:t>
            </a:r>
          </a:p>
          <a:p>
            <a:pPr algn="l">
              <a:buClr>
                <a:schemeClr val="tx1"/>
              </a:buClr>
              <a:buSzPct val="150000"/>
            </a:pPr>
            <a:endParaRPr lang="en-US" b="1" dirty="0" smtClean="0">
              <a:latin typeface="+mn-lt"/>
            </a:endParaRPr>
          </a:p>
          <a:p>
            <a:pPr algn="l">
              <a:buFont typeface="Wingdings" pitchFamily="2" charset="2"/>
              <a:buChar char="Ø"/>
            </a:pPr>
            <a:endParaRPr lang="en-US" b="1" dirty="0" smtClean="0">
              <a:latin typeface="+mn-lt"/>
            </a:endParaRPr>
          </a:p>
          <a:p>
            <a:pPr algn="l"/>
            <a:r>
              <a:rPr lang="en-US" dirty="0">
                <a:latin typeface="+mn-lt"/>
              </a:rPr>
              <a:t> </a:t>
            </a:r>
            <a:r>
              <a:rPr lang="en-US" dirty="0" smtClean="0">
                <a:latin typeface="+mn-lt"/>
              </a:rPr>
              <a:t>   </a:t>
            </a:r>
            <a:endParaRPr lang="en-US" dirty="0">
              <a:latin typeface="+mn-lt"/>
            </a:endParaRPr>
          </a:p>
        </p:txBody>
      </p:sp>
      <p:sp>
        <p:nvSpPr>
          <p:cNvPr id="7" name="Rectangle 6"/>
          <p:cNvSpPr/>
          <p:nvPr/>
        </p:nvSpPr>
        <p:spPr>
          <a:xfrm>
            <a:off x="304800" y="304800"/>
            <a:ext cx="7086600" cy="9372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92427" y="468631"/>
            <a:ext cx="4798060" cy="802143"/>
          </a:xfrm>
          <a:prstGeom prst="rect">
            <a:avLst/>
          </a:prstGeom>
        </p:spPr>
        <p:txBody>
          <a:bodyPr vert="horz" wrap="square" lIns="0" tIns="12065" rIns="0" bIns="0" rtlCol="0">
            <a:spAutoFit/>
          </a:bodyPr>
          <a:lstStyle/>
          <a:p>
            <a:pPr marL="12700" marR="205740">
              <a:lnSpc>
                <a:spcPct val="150000"/>
              </a:lnSpc>
              <a:spcBef>
                <a:spcPts val="840"/>
              </a:spcBef>
            </a:pPr>
            <a:endParaRPr sz="1300">
              <a:latin typeface="Cambria"/>
              <a:cs typeface="Cambria"/>
            </a:endParaRPr>
          </a:p>
          <a:p>
            <a:pPr>
              <a:lnSpc>
                <a:spcPct val="100000"/>
              </a:lnSpc>
            </a:pPr>
            <a:endParaRPr sz="1300">
              <a:latin typeface="Cambria"/>
              <a:cs typeface="Cambria"/>
            </a:endParaRPr>
          </a:p>
          <a:p>
            <a:pPr>
              <a:lnSpc>
                <a:spcPct val="100000"/>
              </a:lnSpc>
              <a:spcBef>
                <a:spcPts val="675"/>
              </a:spcBef>
            </a:pPr>
            <a:endParaRPr sz="1300">
              <a:latin typeface="Cambria"/>
              <a:cs typeface="Cambria"/>
            </a:endParaRPr>
          </a:p>
        </p:txBody>
      </p:sp>
      <p:sp>
        <p:nvSpPr>
          <p:cNvPr id="5" name="object 5"/>
          <p:cNvSpPr txBox="1"/>
          <p:nvPr/>
        </p:nvSpPr>
        <p:spPr>
          <a:xfrm>
            <a:off x="3584195" y="9603658"/>
            <a:ext cx="153035" cy="153888"/>
          </a:xfrm>
          <a:prstGeom prst="rect">
            <a:avLst/>
          </a:prstGeom>
        </p:spPr>
        <p:txBody>
          <a:bodyPr vert="horz" wrap="square" lIns="0" tIns="0" rIns="0" bIns="0" rtlCol="0">
            <a:spAutoFit/>
          </a:bodyPr>
          <a:lstStyle/>
          <a:p>
            <a:pPr marL="38100">
              <a:lnSpc>
                <a:spcPts val="1200"/>
              </a:lnSpc>
            </a:pPr>
            <a:r>
              <a:rPr sz="1000" spc="-50" dirty="0">
                <a:latin typeface="Times New Roman"/>
                <a:cs typeface="Times New Roman"/>
              </a:rPr>
              <a:t>6</a:t>
            </a:r>
            <a:endParaRPr sz="1000">
              <a:latin typeface="Times New Roman"/>
              <a:cs typeface="Times New Roman"/>
            </a:endParaRPr>
          </a:p>
        </p:txBody>
      </p:sp>
      <p:sp>
        <p:nvSpPr>
          <p:cNvPr id="7" name="TextBox 6"/>
          <p:cNvSpPr txBox="1"/>
          <p:nvPr/>
        </p:nvSpPr>
        <p:spPr>
          <a:xfrm>
            <a:off x="990601" y="990600"/>
            <a:ext cx="4419600" cy="6370975"/>
          </a:xfrm>
          <a:prstGeom prst="rect">
            <a:avLst/>
          </a:prstGeom>
          <a:noFill/>
        </p:spPr>
        <p:txBody>
          <a:bodyPr wrap="square" rtlCol="0">
            <a:spAutoFit/>
          </a:bodyPr>
          <a:lstStyle/>
          <a:p>
            <a:pPr algn="l"/>
            <a:r>
              <a:rPr lang="en-US" b="1" dirty="0" smtClean="0"/>
              <a:t>4.Medicine Management Module</a:t>
            </a:r>
          </a:p>
          <a:p>
            <a:pPr algn="l">
              <a:lnSpc>
                <a:spcPct val="150000"/>
              </a:lnSpc>
            </a:pPr>
            <a:r>
              <a:rPr lang="en-US" sz="1400" b="1" dirty="0"/>
              <a:t> </a:t>
            </a:r>
            <a:r>
              <a:rPr lang="en-US" sz="1400" b="1" dirty="0" smtClean="0"/>
              <a:t>  ● </a:t>
            </a:r>
            <a:r>
              <a:rPr lang="en-US" sz="1400" b="1" dirty="0"/>
              <a:t>Add  </a:t>
            </a:r>
            <a:r>
              <a:rPr lang="en-US" sz="1400" b="1" dirty="0" smtClean="0"/>
              <a:t>Medicine</a:t>
            </a:r>
            <a:endParaRPr lang="en-US" sz="1400" b="1" dirty="0"/>
          </a:p>
          <a:p>
            <a:pPr algn="l">
              <a:lnSpc>
                <a:spcPct val="150000"/>
              </a:lnSpc>
              <a:buClr>
                <a:schemeClr val="tx1"/>
              </a:buClr>
              <a:buSzPct val="150000"/>
            </a:pPr>
            <a:r>
              <a:rPr lang="en-US" sz="1400" b="1" dirty="0"/>
              <a:t>   ● View </a:t>
            </a:r>
            <a:r>
              <a:rPr lang="en-US" sz="1400" b="1" dirty="0" smtClean="0"/>
              <a:t>Medicine</a:t>
            </a:r>
            <a:endParaRPr lang="en-US" sz="1400" b="1" dirty="0"/>
          </a:p>
          <a:p>
            <a:pPr algn="l">
              <a:lnSpc>
                <a:spcPct val="150000"/>
              </a:lnSpc>
              <a:buClr>
                <a:schemeClr val="tx1"/>
              </a:buClr>
              <a:buSzPct val="150000"/>
            </a:pPr>
            <a:r>
              <a:rPr lang="en-US" sz="1400" b="1" dirty="0"/>
              <a:t>   ● Update </a:t>
            </a:r>
            <a:r>
              <a:rPr lang="en-US" sz="1400" b="1" dirty="0" smtClean="0"/>
              <a:t>Medicine</a:t>
            </a:r>
            <a:endParaRPr lang="en-US" sz="1400" b="1" dirty="0"/>
          </a:p>
          <a:p>
            <a:pPr algn="l">
              <a:lnSpc>
                <a:spcPct val="150000"/>
              </a:lnSpc>
              <a:buClr>
                <a:schemeClr val="tx1"/>
              </a:buClr>
              <a:buSzPct val="150000"/>
            </a:pPr>
            <a:r>
              <a:rPr lang="en-US" sz="1400" b="1" dirty="0"/>
              <a:t>   ● Delete </a:t>
            </a:r>
            <a:r>
              <a:rPr lang="en-US" sz="1400" b="1" dirty="0" smtClean="0"/>
              <a:t>Medicine</a:t>
            </a:r>
          </a:p>
          <a:p>
            <a:pPr algn="l">
              <a:lnSpc>
                <a:spcPct val="150000"/>
              </a:lnSpc>
              <a:buClr>
                <a:schemeClr val="tx1"/>
              </a:buClr>
              <a:buSzPct val="150000"/>
            </a:pPr>
            <a:endParaRPr lang="en-US" sz="1600" b="1" dirty="0" smtClean="0"/>
          </a:p>
          <a:p>
            <a:pPr algn="l">
              <a:lnSpc>
                <a:spcPct val="150000"/>
              </a:lnSpc>
              <a:buClr>
                <a:schemeClr val="tx1"/>
              </a:buClr>
              <a:buSzPct val="150000"/>
            </a:pPr>
            <a:r>
              <a:rPr lang="en-US" b="1" dirty="0" smtClean="0"/>
              <a:t>5. Room Management Module</a:t>
            </a:r>
          </a:p>
          <a:p>
            <a:pPr algn="l">
              <a:lnSpc>
                <a:spcPct val="150000"/>
              </a:lnSpc>
            </a:pPr>
            <a:r>
              <a:rPr lang="en-US" sz="1400" b="1" dirty="0" smtClean="0"/>
              <a:t>   </a:t>
            </a:r>
            <a:r>
              <a:rPr lang="en-US" sz="1400" b="1" dirty="0"/>
              <a:t>● Add  </a:t>
            </a:r>
            <a:r>
              <a:rPr lang="en-US" sz="1400" b="1" dirty="0" smtClean="0"/>
              <a:t>Room</a:t>
            </a:r>
            <a:endParaRPr lang="en-US" sz="1400" b="1" dirty="0"/>
          </a:p>
          <a:p>
            <a:pPr algn="l">
              <a:lnSpc>
                <a:spcPct val="150000"/>
              </a:lnSpc>
              <a:buClr>
                <a:schemeClr val="tx1"/>
              </a:buClr>
              <a:buSzPct val="150000"/>
            </a:pPr>
            <a:r>
              <a:rPr lang="en-US" sz="1400" b="1" dirty="0"/>
              <a:t>   ● View </a:t>
            </a:r>
            <a:r>
              <a:rPr lang="en-US" sz="1400" b="1" dirty="0" smtClean="0"/>
              <a:t>Room</a:t>
            </a:r>
            <a:endParaRPr lang="en-US" sz="1400" b="1" dirty="0"/>
          </a:p>
          <a:p>
            <a:pPr algn="l">
              <a:lnSpc>
                <a:spcPct val="150000"/>
              </a:lnSpc>
              <a:buClr>
                <a:schemeClr val="tx1"/>
              </a:buClr>
              <a:buSzPct val="150000"/>
            </a:pPr>
            <a:r>
              <a:rPr lang="en-US" sz="1400" b="1" dirty="0"/>
              <a:t>   ● Update </a:t>
            </a:r>
            <a:r>
              <a:rPr lang="en-US" sz="1400" b="1" dirty="0" smtClean="0"/>
              <a:t>Room</a:t>
            </a:r>
            <a:endParaRPr lang="en-US" sz="1400" b="1" dirty="0"/>
          </a:p>
          <a:p>
            <a:pPr algn="l">
              <a:lnSpc>
                <a:spcPct val="150000"/>
              </a:lnSpc>
              <a:buClr>
                <a:schemeClr val="tx1"/>
              </a:buClr>
              <a:buSzPct val="150000"/>
            </a:pPr>
            <a:r>
              <a:rPr lang="en-US" sz="1400" b="1" dirty="0"/>
              <a:t>   ● Delete </a:t>
            </a:r>
            <a:r>
              <a:rPr lang="en-US" sz="1400" b="1" dirty="0" smtClean="0"/>
              <a:t>Room</a:t>
            </a:r>
          </a:p>
          <a:p>
            <a:pPr algn="l">
              <a:lnSpc>
                <a:spcPct val="150000"/>
              </a:lnSpc>
              <a:buClr>
                <a:schemeClr val="tx1"/>
              </a:buClr>
              <a:buSzPct val="150000"/>
            </a:pPr>
            <a:endParaRPr lang="en-US" b="1" dirty="0"/>
          </a:p>
          <a:p>
            <a:pPr algn="l">
              <a:lnSpc>
                <a:spcPct val="150000"/>
              </a:lnSpc>
              <a:buClr>
                <a:schemeClr val="tx1"/>
              </a:buClr>
              <a:buSzPct val="150000"/>
            </a:pPr>
            <a:r>
              <a:rPr lang="en-US" b="1" dirty="0" smtClean="0"/>
              <a:t>7.Appointment Management Module</a:t>
            </a:r>
          </a:p>
          <a:p>
            <a:pPr algn="l">
              <a:lnSpc>
                <a:spcPct val="150000"/>
              </a:lnSpc>
            </a:pPr>
            <a:r>
              <a:rPr lang="en-US" b="1" dirty="0"/>
              <a:t>  </a:t>
            </a:r>
            <a:r>
              <a:rPr lang="en-US" b="1" dirty="0" smtClean="0"/>
              <a:t> </a:t>
            </a:r>
            <a:r>
              <a:rPr lang="en-US" sz="1400" b="1" dirty="0" smtClean="0"/>
              <a:t>● Book Appointment</a:t>
            </a:r>
            <a:endParaRPr lang="en-US" sz="1400" b="1" dirty="0"/>
          </a:p>
          <a:p>
            <a:pPr algn="l">
              <a:lnSpc>
                <a:spcPct val="150000"/>
              </a:lnSpc>
              <a:buClr>
                <a:schemeClr val="tx1"/>
              </a:buClr>
              <a:buSzPct val="150000"/>
            </a:pPr>
            <a:r>
              <a:rPr lang="en-US" sz="1400" b="1" dirty="0"/>
              <a:t>   ● View </a:t>
            </a:r>
            <a:r>
              <a:rPr lang="en-US" sz="1400" b="1" dirty="0" smtClean="0"/>
              <a:t>Appointment</a:t>
            </a:r>
            <a:endParaRPr lang="en-US" sz="1400" b="1" dirty="0"/>
          </a:p>
          <a:p>
            <a:pPr algn="l">
              <a:lnSpc>
                <a:spcPct val="150000"/>
              </a:lnSpc>
              <a:buClr>
                <a:schemeClr val="tx1"/>
              </a:buClr>
              <a:buSzPct val="150000"/>
            </a:pPr>
            <a:r>
              <a:rPr lang="en-US" sz="1400" b="1" dirty="0"/>
              <a:t>   ● Update </a:t>
            </a:r>
            <a:r>
              <a:rPr lang="en-US" sz="1400" b="1" dirty="0" err="1" smtClean="0"/>
              <a:t>Appiontment</a:t>
            </a:r>
            <a:endParaRPr lang="en-US" sz="1400" b="1" dirty="0"/>
          </a:p>
          <a:p>
            <a:pPr algn="l">
              <a:lnSpc>
                <a:spcPct val="150000"/>
              </a:lnSpc>
            </a:pPr>
            <a:r>
              <a:rPr lang="en-US" sz="1400" b="1" dirty="0"/>
              <a:t> </a:t>
            </a:r>
            <a:r>
              <a:rPr lang="en-US" sz="1400" b="1" dirty="0" smtClean="0"/>
              <a:t>  ● Cancel Appointment</a:t>
            </a:r>
            <a:endParaRPr lang="en-US" sz="1400" b="1" dirty="0"/>
          </a:p>
          <a:p>
            <a:pPr algn="l">
              <a:lnSpc>
                <a:spcPct val="150000"/>
              </a:lnSpc>
              <a:buClr>
                <a:schemeClr val="tx1"/>
              </a:buClr>
              <a:buSzPct val="150000"/>
            </a:pPr>
            <a:r>
              <a:rPr lang="en-US" b="1" dirty="0"/>
              <a:t>   </a:t>
            </a:r>
            <a:r>
              <a:rPr lang="en-US" b="1" dirty="0" smtClean="0"/>
              <a:t>    </a:t>
            </a:r>
            <a:endParaRPr lang="en-US" b="1" dirty="0"/>
          </a:p>
        </p:txBody>
      </p:sp>
      <p:sp>
        <p:nvSpPr>
          <p:cNvPr id="10" name="Rectangle 9"/>
          <p:cNvSpPr/>
          <p:nvPr/>
        </p:nvSpPr>
        <p:spPr>
          <a:xfrm>
            <a:off x="304800" y="304800"/>
            <a:ext cx="7086600" cy="9372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p:nvPr/>
        </p:nvSpPr>
        <p:spPr>
          <a:xfrm>
            <a:off x="3762248" y="9665919"/>
            <a:ext cx="89535" cy="167354"/>
          </a:xfrm>
          <a:prstGeom prst="rect">
            <a:avLst/>
          </a:prstGeom>
        </p:spPr>
        <p:txBody>
          <a:bodyPr vert="horz" wrap="square" lIns="0" tIns="13335" rIns="0" bIns="0" rtlCol="0">
            <a:spAutoFit/>
          </a:bodyPr>
          <a:lstStyle/>
          <a:p>
            <a:pPr marL="12700">
              <a:lnSpc>
                <a:spcPct val="100000"/>
              </a:lnSpc>
              <a:spcBef>
                <a:spcPts val="105"/>
              </a:spcBef>
            </a:pPr>
            <a:r>
              <a:rPr sz="1000" spc="-50" dirty="0">
                <a:latin typeface="Times New Roman"/>
                <a:cs typeface="Times New Roman"/>
              </a:rPr>
              <a:t>7</a:t>
            </a:r>
            <a:endParaRPr sz="1000">
              <a:latin typeface="Times New Roman"/>
              <a:cs typeface="Times New Roman"/>
            </a:endParaRPr>
          </a:p>
        </p:txBody>
      </p:sp>
      <p:sp>
        <p:nvSpPr>
          <p:cNvPr id="9" name="TextBox 8"/>
          <p:cNvSpPr txBox="1"/>
          <p:nvPr/>
        </p:nvSpPr>
        <p:spPr>
          <a:xfrm>
            <a:off x="685801" y="304801"/>
            <a:ext cx="6418745" cy="11406302"/>
          </a:xfrm>
          <a:prstGeom prst="rect">
            <a:avLst/>
          </a:prstGeom>
          <a:noFill/>
        </p:spPr>
        <p:txBody>
          <a:bodyPr wrap="square" rtlCol="0">
            <a:spAutoFit/>
          </a:bodyPr>
          <a:lstStyle/>
          <a:p>
            <a:pPr algn="l"/>
            <a:r>
              <a:rPr lang="en-US" b="1" dirty="0" smtClean="0">
                <a:latin typeface="+mj-lt"/>
              </a:rPr>
              <a:t>b) Database Design</a:t>
            </a:r>
          </a:p>
          <a:p>
            <a:pPr algn="l"/>
            <a:r>
              <a:rPr lang="en-US" b="1" dirty="0">
                <a:latin typeface="+mj-lt"/>
              </a:rPr>
              <a:t> </a:t>
            </a:r>
            <a:r>
              <a:rPr lang="en-US" b="1" dirty="0" smtClean="0">
                <a:latin typeface="+mj-lt"/>
              </a:rPr>
              <a:t>  </a:t>
            </a:r>
          </a:p>
          <a:p>
            <a:pPr algn="l"/>
            <a:r>
              <a:rPr lang="en-US" b="1" dirty="0">
                <a:latin typeface="+mj-lt"/>
              </a:rPr>
              <a:t> </a:t>
            </a:r>
            <a:r>
              <a:rPr lang="en-US" b="1" dirty="0" smtClean="0">
                <a:latin typeface="+mj-lt"/>
              </a:rPr>
              <a:t> </a:t>
            </a:r>
            <a:r>
              <a:rPr lang="en-US" b="1" dirty="0" smtClean="0"/>
              <a:t> </a:t>
            </a:r>
            <a:r>
              <a:rPr lang="en-US" dirty="0" smtClean="0"/>
              <a:t>● Patient Table</a:t>
            </a:r>
          </a:p>
          <a:p>
            <a:pPr algn="l"/>
            <a:endParaRPr lang="en-US" dirty="0" smtClean="0">
              <a:latin typeface="+mj-lt"/>
            </a:endParaRPr>
          </a:p>
          <a:p>
            <a:pPr algn="l"/>
            <a:r>
              <a:rPr lang="en-US" b="1" dirty="0">
                <a:latin typeface="+mj-lt"/>
              </a:rPr>
              <a:t> </a:t>
            </a:r>
            <a:r>
              <a:rPr lang="en-US" b="1" dirty="0" smtClean="0">
                <a:latin typeface="+mj-lt"/>
              </a:rPr>
              <a:t>       Fields                               </a:t>
            </a:r>
            <a:r>
              <a:rPr lang="en-US" b="1" dirty="0" err="1" smtClean="0">
                <a:latin typeface="+mj-lt"/>
              </a:rPr>
              <a:t>Datatype</a:t>
            </a:r>
            <a:r>
              <a:rPr lang="en-US" b="1" dirty="0" smtClean="0">
                <a:latin typeface="+mj-lt"/>
              </a:rPr>
              <a:t>                  Properties</a:t>
            </a:r>
          </a:p>
          <a:p>
            <a:pPr algn="l"/>
            <a:r>
              <a:rPr lang="en-US" dirty="0">
                <a:latin typeface="+mj-lt"/>
              </a:rPr>
              <a:t> </a:t>
            </a:r>
            <a:r>
              <a:rPr lang="en-US" dirty="0" smtClean="0">
                <a:latin typeface="+mj-lt"/>
              </a:rPr>
              <a:t>      </a:t>
            </a:r>
            <a:r>
              <a:rPr lang="en-US" dirty="0" err="1" smtClean="0">
                <a:latin typeface="+mj-lt"/>
              </a:rPr>
              <a:t>patient_id</a:t>
            </a:r>
            <a:r>
              <a:rPr lang="en-US" dirty="0" smtClean="0">
                <a:latin typeface="+mj-lt"/>
              </a:rPr>
              <a:t>                         </a:t>
            </a:r>
            <a:r>
              <a:rPr lang="en-US" dirty="0" err="1" smtClean="0">
                <a:latin typeface="+mj-lt"/>
              </a:rPr>
              <a:t>int</a:t>
            </a:r>
            <a:r>
              <a:rPr lang="en-US" dirty="0" smtClean="0">
                <a:latin typeface="+mj-lt"/>
              </a:rPr>
              <a:t>                            </a:t>
            </a:r>
            <a:r>
              <a:rPr lang="en-US" dirty="0" err="1" smtClean="0">
                <a:latin typeface="+mj-lt"/>
              </a:rPr>
              <a:t>PK,Auto</a:t>
            </a:r>
            <a:r>
              <a:rPr lang="en-US" dirty="0" smtClean="0">
                <a:latin typeface="+mj-lt"/>
              </a:rPr>
              <a:t> Increment</a:t>
            </a:r>
          </a:p>
          <a:p>
            <a:pPr algn="l"/>
            <a:r>
              <a:rPr lang="en-US" dirty="0">
                <a:latin typeface="+mj-lt"/>
              </a:rPr>
              <a:t> </a:t>
            </a:r>
            <a:r>
              <a:rPr lang="en-US" dirty="0" smtClean="0">
                <a:latin typeface="+mj-lt"/>
              </a:rPr>
              <a:t>      </a:t>
            </a:r>
            <a:r>
              <a:rPr lang="en-US" dirty="0" err="1" smtClean="0">
                <a:latin typeface="+mj-lt"/>
              </a:rPr>
              <a:t>patient_name</a:t>
            </a:r>
            <a:r>
              <a:rPr lang="en-US" dirty="0" smtClean="0">
                <a:latin typeface="+mj-lt"/>
              </a:rPr>
              <a:t>                  </a:t>
            </a:r>
            <a:r>
              <a:rPr lang="en-US" dirty="0" err="1" smtClean="0">
                <a:latin typeface="+mj-lt"/>
              </a:rPr>
              <a:t>varchar</a:t>
            </a:r>
            <a:r>
              <a:rPr lang="en-US" dirty="0" smtClean="0">
                <a:latin typeface="+mj-lt"/>
              </a:rPr>
              <a:t>(30)             not null</a:t>
            </a:r>
          </a:p>
          <a:p>
            <a:pPr algn="l"/>
            <a:r>
              <a:rPr lang="en-US" dirty="0">
                <a:latin typeface="+mj-lt"/>
              </a:rPr>
              <a:t> </a:t>
            </a:r>
            <a:r>
              <a:rPr lang="en-US" dirty="0" smtClean="0">
                <a:latin typeface="+mj-lt"/>
              </a:rPr>
              <a:t>      </a:t>
            </a:r>
            <a:r>
              <a:rPr lang="en-US" dirty="0" err="1" smtClean="0">
                <a:latin typeface="+mj-lt"/>
              </a:rPr>
              <a:t>patient_age</a:t>
            </a:r>
            <a:r>
              <a:rPr lang="en-US" dirty="0" smtClean="0">
                <a:latin typeface="+mj-lt"/>
              </a:rPr>
              <a:t>                       </a:t>
            </a:r>
            <a:r>
              <a:rPr lang="en-US" dirty="0" err="1" smtClean="0">
                <a:latin typeface="+mj-lt"/>
              </a:rPr>
              <a:t>int</a:t>
            </a:r>
            <a:r>
              <a:rPr lang="en-US" dirty="0" smtClean="0">
                <a:latin typeface="+mj-lt"/>
              </a:rPr>
              <a:t>                           not null</a:t>
            </a:r>
          </a:p>
          <a:p>
            <a:pPr algn="l"/>
            <a:r>
              <a:rPr lang="en-US" dirty="0">
                <a:latin typeface="+mj-lt"/>
              </a:rPr>
              <a:t> </a:t>
            </a:r>
            <a:r>
              <a:rPr lang="en-US" dirty="0" smtClean="0">
                <a:latin typeface="+mj-lt"/>
              </a:rPr>
              <a:t>      </a:t>
            </a:r>
            <a:r>
              <a:rPr lang="en-US" dirty="0" err="1" smtClean="0">
                <a:latin typeface="+mj-lt"/>
              </a:rPr>
              <a:t>patient_gender</a:t>
            </a:r>
            <a:r>
              <a:rPr lang="en-US" dirty="0" smtClean="0">
                <a:latin typeface="+mj-lt"/>
              </a:rPr>
              <a:t>                </a:t>
            </a:r>
            <a:r>
              <a:rPr lang="en-US" dirty="0" err="1" smtClean="0">
                <a:latin typeface="+mj-lt"/>
              </a:rPr>
              <a:t>varchar</a:t>
            </a:r>
            <a:r>
              <a:rPr lang="en-US" dirty="0" smtClean="0">
                <a:latin typeface="+mj-lt"/>
              </a:rPr>
              <a:t>(10)            nut null  </a:t>
            </a:r>
          </a:p>
          <a:p>
            <a:pPr algn="l"/>
            <a:r>
              <a:rPr lang="en-US" dirty="0">
                <a:latin typeface="+mj-lt"/>
              </a:rPr>
              <a:t> </a:t>
            </a:r>
            <a:endParaRPr lang="en-US" dirty="0" smtClean="0">
              <a:latin typeface="+mj-lt"/>
            </a:endParaRPr>
          </a:p>
          <a:p>
            <a:pPr algn="l"/>
            <a:r>
              <a:rPr lang="en-US" b="1" dirty="0" smtClean="0"/>
              <a:t> </a:t>
            </a:r>
            <a:r>
              <a:rPr lang="en-US" dirty="0" smtClean="0"/>
              <a:t>● Doctor Table</a:t>
            </a:r>
          </a:p>
          <a:p>
            <a:pPr algn="l"/>
            <a:endParaRPr lang="en-US" dirty="0"/>
          </a:p>
          <a:p>
            <a:pPr algn="l"/>
            <a:r>
              <a:rPr lang="en-US" sz="1600" b="1" dirty="0"/>
              <a:t>        Fields                          </a:t>
            </a:r>
            <a:r>
              <a:rPr lang="en-US" sz="1600" b="1" dirty="0" smtClean="0"/>
              <a:t> </a:t>
            </a:r>
            <a:r>
              <a:rPr lang="en-US" sz="1600" b="1" dirty="0" err="1"/>
              <a:t>Datatype</a:t>
            </a:r>
            <a:r>
              <a:rPr lang="en-US" sz="1600" b="1" dirty="0"/>
              <a:t>                  Properties</a:t>
            </a:r>
          </a:p>
          <a:p>
            <a:pPr algn="l"/>
            <a:r>
              <a:rPr lang="en-US" sz="1600" dirty="0"/>
              <a:t>       </a:t>
            </a:r>
            <a:r>
              <a:rPr lang="en-US" sz="1600" dirty="0" err="1" smtClean="0"/>
              <a:t>doctor_id</a:t>
            </a:r>
            <a:r>
              <a:rPr lang="en-US" sz="1600" dirty="0" smtClean="0"/>
              <a:t>                         </a:t>
            </a:r>
            <a:r>
              <a:rPr lang="en-US" sz="1600" dirty="0" err="1"/>
              <a:t>int</a:t>
            </a:r>
            <a:r>
              <a:rPr lang="en-US" sz="1600" dirty="0"/>
              <a:t>                           </a:t>
            </a:r>
            <a:r>
              <a:rPr lang="en-US" sz="1600" dirty="0" err="1" smtClean="0"/>
              <a:t>PK,Auto</a:t>
            </a:r>
            <a:r>
              <a:rPr lang="en-US" sz="1600" dirty="0" smtClean="0"/>
              <a:t> </a:t>
            </a:r>
            <a:r>
              <a:rPr lang="en-US" sz="1600" dirty="0"/>
              <a:t>Increment</a:t>
            </a:r>
          </a:p>
          <a:p>
            <a:pPr algn="l"/>
            <a:r>
              <a:rPr lang="en-US" sz="1600" dirty="0"/>
              <a:t>       </a:t>
            </a:r>
            <a:r>
              <a:rPr lang="en-US" sz="1600" dirty="0" err="1" smtClean="0"/>
              <a:t>doctor_name</a:t>
            </a:r>
            <a:r>
              <a:rPr lang="en-US" sz="1600" dirty="0" smtClean="0"/>
              <a:t>                  </a:t>
            </a:r>
            <a:r>
              <a:rPr lang="en-US" sz="1600" dirty="0" err="1"/>
              <a:t>varchar</a:t>
            </a:r>
            <a:r>
              <a:rPr lang="en-US" sz="1600" dirty="0"/>
              <a:t>(30)             not null</a:t>
            </a:r>
          </a:p>
          <a:p>
            <a:pPr algn="l"/>
            <a:r>
              <a:rPr lang="en-US" sz="1600" dirty="0" smtClean="0"/>
              <a:t>       </a:t>
            </a:r>
            <a:r>
              <a:rPr lang="en-US" sz="1600" dirty="0" err="1" smtClean="0"/>
              <a:t>doctor_gender</a:t>
            </a:r>
            <a:r>
              <a:rPr lang="en-US" sz="1600" dirty="0" smtClean="0"/>
              <a:t>                </a:t>
            </a:r>
            <a:r>
              <a:rPr lang="en-US" sz="1600" dirty="0" err="1"/>
              <a:t>varchar</a:t>
            </a:r>
            <a:r>
              <a:rPr lang="en-US" sz="1600" dirty="0"/>
              <a:t>(10)            </a:t>
            </a:r>
            <a:r>
              <a:rPr lang="en-US" sz="1600" dirty="0" smtClean="0"/>
              <a:t> not </a:t>
            </a:r>
            <a:r>
              <a:rPr lang="en-US" sz="1600" dirty="0"/>
              <a:t>null </a:t>
            </a:r>
            <a:endParaRPr lang="en-US" sz="1600" dirty="0" smtClean="0"/>
          </a:p>
          <a:p>
            <a:pPr algn="l"/>
            <a:r>
              <a:rPr lang="en-US" sz="1600" dirty="0"/>
              <a:t> </a:t>
            </a:r>
            <a:r>
              <a:rPr lang="en-US" sz="1600" dirty="0" smtClean="0"/>
              <a:t>       </a:t>
            </a:r>
            <a:r>
              <a:rPr lang="en-US" sz="1600" dirty="0" err="1" smtClean="0"/>
              <a:t>specilization</a:t>
            </a:r>
            <a:r>
              <a:rPr lang="en-US" sz="1600" dirty="0" smtClean="0"/>
              <a:t>                    </a:t>
            </a:r>
            <a:r>
              <a:rPr lang="en-US" sz="1600" dirty="0" err="1" smtClean="0"/>
              <a:t>varchar</a:t>
            </a:r>
            <a:r>
              <a:rPr lang="en-US" sz="1600" dirty="0" smtClean="0"/>
              <a:t>(50)           not null</a:t>
            </a:r>
          </a:p>
          <a:p>
            <a:pPr algn="l"/>
            <a:r>
              <a:rPr lang="en-US" sz="1600" dirty="0"/>
              <a:t> </a:t>
            </a:r>
            <a:r>
              <a:rPr lang="en-US" sz="1600" dirty="0" smtClean="0"/>
              <a:t>  </a:t>
            </a:r>
          </a:p>
          <a:p>
            <a:pPr algn="l"/>
            <a:r>
              <a:rPr lang="en-US" sz="1600" dirty="0" smtClean="0"/>
              <a:t>● Staff Table</a:t>
            </a:r>
          </a:p>
          <a:p>
            <a:pPr algn="l"/>
            <a:endParaRPr lang="en-US" sz="1600" dirty="0"/>
          </a:p>
          <a:p>
            <a:pPr algn="l"/>
            <a:r>
              <a:rPr lang="en-US" sz="1600" b="1" dirty="0"/>
              <a:t>        Fields                               </a:t>
            </a:r>
            <a:r>
              <a:rPr lang="en-US" sz="1600" b="1" dirty="0" err="1"/>
              <a:t>Datatype</a:t>
            </a:r>
            <a:r>
              <a:rPr lang="en-US" sz="1600" b="1" dirty="0"/>
              <a:t>               </a:t>
            </a:r>
            <a:r>
              <a:rPr lang="en-US" sz="1600" b="1" dirty="0" smtClean="0"/>
              <a:t>Properties</a:t>
            </a:r>
            <a:endParaRPr lang="en-US" sz="1600" b="1" dirty="0"/>
          </a:p>
          <a:p>
            <a:pPr algn="l"/>
            <a:r>
              <a:rPr lang="en-US" sz="1600" dirty="0"/>
              <a:t>       </a:t>
            </a:r>
            <a:r>
              <a:rPr lang="en-US" sz="1600" dirty="0" err="1" smtClean="0"/>
              <a:t>staff_id</a:t>
            </a:r>
            <a:r>
              <a:rPr lang="en-US" sz="1600" dirty="0" smtClean="0"/>
              <a:t>                             </a:t>
            </a:r>
            <a:r>
              <a:rPr lang="en-US" sz="1600" dirty="0" err="1"/>
              <a:t>int</a:t>
            </a:r>
            <a:r>
              <a:rPr lang="en-US" sz="1600" dirty="0"/>
              <a:t>                            </a:t>
            </a:r>
            <a:r>
              <a:rPr lang="en-US" sz="1600" dirty="0" err="1"/>
              <a:t>PK,Auto</a:t>
            </a:r>
            <a:r>
              <a:rPr lang="en-US" sz="1600" dirty="0"/>
              <a:t> Increment</a:t>
            </a:r>
          </a:p>
          <a:p>
            <a:pPr algn="l"/>
            <a:r>
              <a:rPr lang="en-US" sz="1600" dirty="0"/>
              <a:t>       </a:t>
            </a:r>
            <a:r>
              <a:rPr lang="en-US" sz="1600" dirty="0" err="1" smtClean="0"/>
              <a:t>staff_name</a:t>
            </a:r>
            <a:r>
              <a:rPr lang="en-US" sz="1600" dirty="0" smtClean="0"/>
              <a:t>                       </a:t>
            </a:r>
            <a:r>
              <a:rPr lang="en-US" sz="1600" dirty="0" err="1"/>
              <a:t>varchar</a:t>
            </a:r>
            <a:r>
              <a:rPr lang="en-US" sz="1600" dirty="0"/>
              <a:t>(30)            </a:t>
            </a:r>
            <a:r>
              <a:rPr lang="en-US" sz="1600" dirty="0" smtClean="0"/>
              <a:t>  not </a:t>
            </a:r>
            <a:r>
              <a:rPr lang="en-US" sz="1600" dirty="0"/>
              <a:t>null</a:t>
            </a:r>
          </a:p>
          <a:p>
            <a:pPr algn="l"/>
            <a:r>
              <a:rPr lang="en-US" sz="1600" dirty="0"/>
              <a:t>       </a:t>
            </a:r>
            <a:r>
              <a:rPr lang="en-US" sz="1600" dirty="0" err="1" smtClean="0"/>
              <a:t>staff_age</a:t>
            </a:r>
            <a:r>
              <a:rPr lang="en-US" sz="1600" dirty="0" smtClean="0"/>
              <a:t>                         </a:t>
            </a:r>
            <a:r>
              <a:rPr lang="en-US" sz="1600" dirty="0" err="1"/>
              <a:t>int</a:t>
            </a:r>
            <a:r>
              <a:rPr lang="en-US" sz="1600" dirty="0"/>
              <a:t>                           </a:t>
            </a:r>
            <a:r>
              <a:rPr lang="en-US" sz="1600" dirty="0" smtClean="0"/>
              <a:t>  not </a:t>
            </a:r>
            <a:r>
              <a:rPr lang="en-US" sz="1600" dirty="0"/>
              <a:t>null</a:t>
            </a:r>
          </a:p>
          <a:p>
            <a:pPr algn="l"/>
            <a:r>
              <a:rPr lang="en-US" sz="1600" dirty="0"/>
              <a:t>       </a:t>
            </a:r>
            <a:r>
              <a:rPr lang="en-US" sz="1600" dirty="0" err="1" smtClean="0"/>
              <a:t>staff_gender</a:t>
            </a:r>
            <a:r>
              <a:rPr lang="en-US" sz="1600" dirty="0" smtClean="0"/>
              <a:t>                   </a:t>
            </a:r>
            <a:r>
              <a:rPr lang="en-US" sz="1600" dirty="0" err="1"/>
              <a:t>varchar</a:t>
            </a:r>
            <a:r>
              <a:rPr lang="en-US" sz="1600" dirty="0"/>
              <a:t>(10)          </a:t>
            </a:r>
            <a:r>
              <a:rPr lang="en-US" sz="1600" dirty="0" smtClean="0"/>
              <a:t>      not </a:t>
            </a:r>
            <a:r>
              <a:rPr lang="en-US" sz="1600" dirty="0"/>
              <a:t>null </a:t>
            </a:r>
            <a:endParaRPr lang="en-US" sz="1600" dirty="0" smtClean="0"/>
          </a:p>
          <a:p>
            <a:pPr algn="l"/>
            <a:r>
              <a:rPr lang="en-US" sz="1600" dirty="0"/>
              <a:t> </a:t>
            </a:r>
            <a:r>
              <a:rPr lang="en-US" sz="1600" dirty="0" smtClean="0"/>
              <a:t>      salary                                double                     not null </a:t>
            </a:r>
          </a:p>
          <a:p>
            <a:pPr algn="l"/>
            <a:endParaRPr lang="en-US" sz="1600" dirty="0"/>
          </a:p>
          <a:p>
            <a:pPr algn="l"/>
            <a:r>
              <a:rPr lang="en-US" sz="1600" dirty="0" smtClean="0"/>
              <a:t>● Medicine Table</a:t>
            </a:r>
          </a:p>
          <a:p>
            <a:pPr algn="l"/>
            <a:endParaRPr lang="en-US" sz="1600" dirty="0"/>
          </a:p>
          <a:p>
            <a:pPr algn="l"/>
            <a:r>
              <a:rPr lang="en-US" sz="1600" b="1" dirty="0"/>
              <a:t>        Fields                          </a:t>
            </a:r>
            <a:r>
              <a:rPr lang="en-US" sz="1600" b="1" dirty="0" smtClean="0"/>
              <a:t>  </a:t>
            </a:r>
            <a:r>
              <a:rPr lang="en-US" sz="1600" b="1" dirty="0" err="1"/>
              <a:t>Datatype</a:t>
            </a:r>
            <a:r>
              <a:rPr lang="en-US" sz="1600" b="1" dirty="0"/>
              <a:t>                  Properties</a:t>
            </a:r>
          </a:p>
          <a:p>
            <a:pPr algn="l"/>
            <a:r>
              <a:rPr lang="en-US" sz="1600" dirty="0"/>
              <a:t>       </a:t>
            </a:r>
            <a:r>
              <a:rPr lang="en-US" sz="1600" dirty="0" err="1" smtClean="0"/>
              <a:t>med_id</a:t>
            </a:r>
            <a:r>
              <a:rPr lang="en-US" sz="1600" dirty="0" smtClean="0"/>
              <a:t>                            </a:t>
            </a:r>
            <a:r>
              <a:rPr lang="en-US" sz="1600" dirty="0" err="1"/>
              <a:t>int</a:t>
            </a:r>
            <a:r>
              <a:rPr lang="en-US" sz="1600" dirty="0"/>
              <a:t>                            </a:t>
            </a:r>
            <a:r>
              <a:rPr lang="en-US" sz="1600" dirty="0" err="1"/>
              <a:t>PK,Auto</a:t>
            </a:r>
            <a:r>
              <a:rPr lang="en-US" sz="1600" dirty="0"/>
              <a:t> Increment</a:t>
            </a:r>
          </a:p>
          <a:p>
            <a:pPr algn="l"/>
            <a:r>
              <a:rPr lang="en-US" sz="1600" dirty="0"/>
              <a:t>       </a:t>
            </a:r>
            <a:r>
              <a:rPr lang="en-US" sz="1600" dirty="0" err="1" smtClean="0"/>
              <a:t>med_name</a:t>
            </a:r>
            <a:r>
              <a:rPr lang="en-US" sz="1600" dirty="0" smtClean="0"/>
              <a:t>                     </a:t>
            </a:r>
            <a:r>
              <a:rPr lang="en-US" sz="1600" dirty="0" err="1"/>
              <a:t>varchar</a:t>
            </a:r>
            <a:r>
              <a:rPr lang="en-US" sz="1600" dirty="0"/>
              <a:t>(30)            </a:t>
            </a:r>
            <a:r>
              <a:rPr lang="en-US" sz="1600" dirty="0" smtClean="0"/>
              <a:t>  </a:t>
            </a:r>
            <a:r>
              <a:rPr lang="en-US" sz="1600" dirty="0"/>
              <a:t>not null</a:t>
            </a:r>
          </a:p>
          <a:p>
            <a:pPr algn="l"/>
            <a:r>
              <a:rPr lang="en-US" sz="1600" dirty="0"/>
              <a:t>       </a:t>
            </a:r>
            <a:r>
              <a:rPr lang="en-US" sz="1600" dirty="0" err="1" smtClean="0"/>
              <a:t>med_category</a:t>
            </a:r>
            <a:r>
              <a:rPr lang="en-US" sz="1600" dirty="0" smtClean="0"/>
              <a:t>                  </a:t>
            </a:r>
            <a:r>
              <a:rPr lang="en-US" sz="1600" dirty="0" err="1" smtClean="0"/>
              <a:t>varchar</a:t>
            </a:r>
            <a:r>
              <a:rPr lang="en-US" sz="1600" dirty="0" smtClean="0"/>
              <a:t>(30)            </a:t>
            </a:r>
            <a:r>
              <a:rPr lang="en-US" sz="1600" dirty="0"/>
              <a:t>not null</a:t>
            </a:r>
          </a:p>
          <a:p>
            <a:pPr algn="l"/>
            <a:r>
              <a:rPr lang="en-US" sz="1600" dirty="0"/>
              <a:t>      </a:t>
            </a:r>
            <a:r>
              <a:rPr lang="en-US" sz="1600" dirty="0" smtClean="0"/>
              <a:t> quantity                             </a:t>
            </a:r>
            <a:r>
              <a:rPr lang="en-US" sz="1600" dirty="0" err="1" smtClean="0"/>
              <a:t>int</a:t>
            </a:r>
            <a:r>
              <a:rPr lang="en-US" sz="1600" dirty="0" smtClean="0"/>
              <a:t>                          not null</a:t>
            </a:r>
          </a:p>
          <a:p>
            <a:pPr algn="l"/>
            <a:r>
              <a:rPr lang="en-US" sz="1600" dirty="0"/>
              <a:t> </a:t>
            </a:r>
            <a:r>
              <a:rPr lang="en-US" sz="1600" dirty="0" smtClean="0"/>
              <a:t>      price                                  double                   not null</a:t>
            </a:r>
          </a:p>
          <a:p>
            <a:pPr algn="l"/>
            <a:r>
              <a:rPr lang="en-US" sz="1600" dirty="0"/>
              <a:t> </a:t>
            </a:r>
            <a:r>
              <a:rPr lang="en-US" sz="1600" dirty="0" smtClean="0"/>
              <a:t>      </a:t>
            </a:r>
            <a:r>
              <a:rPr lang="en-US" sz="1600" dirty="0" err="1" smtClean="0"/>
              <a:t>expiry_date</a:t>
            </a:r>
            <a:r>
              <a:rPr lang="en-US" sz="1600" dirty="0" smtClean="0"/>
              <a:t>                       date                      </a:t>
            </a:r>
            <a:r>
              <a:rPr lang="en-US" sz="1600" dirty="0" err="1" smtClean="0"/>
              <a:t>not_null</a:t>
            </a:r>
            <a:endParaRPr lang="en-US" sz="1600" dirty="0"/>
          </a:p>
          <a:p>
            <a:pPr algn="l"/>
            <a:r>
              <a:rPr lang="en-US" sz="1600" dirty="0"/>
              <a:t> </a:t>
            </a:r>
          </a:p>
          <a:p>
            <a:endParaRPr lang="en-US" sz="1600" dirty="0"/>
          </a:p>
          <a:p>
            <a:r>
              <a:rPr lang="en-US" sz="1600" dirty="0"/>
              <a:t> </a:t>
            </a:r>
          </a:p>
          <a:p>
            <a:endParaRPr lang="en-US" sz="1600" dirty="0"/>
          </a:p>
          <a:p>
            <a:r>
              <a:rPr lang="en-US" sz="1600" dirty="0"/>
              <a:t> </a:t>
            </a:r>
          </a:p>
          <a:p>
            <a:endParaRPr lang="en-US" dirty="0" smtClean="0">
              <a:latin typeface="+mj-lt"/>
            </a:endParaRPr>
          </a:p>
          <a:p>
            <a:r>
              <a:rPr lang="en-US" b="1" dirty="0">
                <a:latin typeface="+mj-lt"/>
              </a:rPr>
              <a:t> </a:t>
            </a:r>
            <a:r>
              <a:rPr lang="en-US" b="1" dirty="0" smtClean="0">
                <a:latin typeface="+mj-lt"/>
              </a:rPr>
              <a:t>      </a:t>
            </a:r>
          </a:p>
        </p:txBody>
      </p:sp>
      <p:sp>
        <p:nvSpPr>
          <p:cNvPr id="10" name="Rectangle 9"/>
          <p:cNvSpPr/>
          <p:nvPr/>
        </p:nvSpPr>
        <p:spPr>
          <a:xfrm>
            <a:off x="304800" y="304800"/>
            <a:ext cx="7086600" cy="9372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380236" y="3045967"/>
            <a:ext cx="4522470" cy="212238"/>
          </a:xfrm>
          <a:prstGeom prst="rect">
            <a:avLst/>
          </a:prstGeom>
        </p:spPr>
        <p:txBody>
          <a:bodyPr vert="horz" wrap="square" lIns="0" tIns="12065" rIns="0" bIns="0" rtlCol="0">
            <a:spAutoFit/>
          </a:bodyPr>
          <a:lstStyle/>
          <a:p>
            <a:pPr marL="24765">
              <a:lnSpc>
                <a:spcPct val="100000"/>
              </a:lnSpc>
              <a:spcBef>
                <a:spcPts val="95"/>
              </a:spcBef>
            </a:pPr>
            <a:r>
              <a:rPr sz="1300" spc="60" smtClean="0">
                <a:latin typeface="Cambria"/>
                <a:cs typeface="Cambria"/>
              </a:rPr>
              <a:t>.</a:t>
            </a:r>
            <a:endParaRPr sz="1300">
              <a:latin typeface="Cambria"/>
              <a:cs typeface="Cambria"/>
            </a:endParaRPr>
          </a:p>
        </p:txBody>
      </p:sp>
      <p:sp>
        <p:nvSpPr>
          <p:cNvPr id="5" name="object 5"/>
          <p:cNvSpPr txBox="1"/>
          <p:nvPr/>
        </p:nvSpPr>
        <p:spPr>
          <a:xfrm>
            <a:off x="3660648" y="9603658"/>
            <a:ext cx="153035" cy="153888"/>
          </a:xfrm>
          <a:prstGeom prst="rect">
            <a:avLst/>
          </a:prstGeom>
        </p:spPr>
        <p:txBody>
          <a:bodyPr vert="horz" wrap="square" lIns="0" tIns="0" rIns="0" bIns="0" rtlCol="0">
            <a:spAutoFit/>
          </a:bodyPr>
          <a:lstStyle/>
          <a:p>
            <a:pPr marL="38100">
              <a:lnSpc>
                <a:spcPts val="1200"/>
              </a:lnSpc>
            </a:pPr>
            <a:r>
              <a:rPr sz="1000" spc="-50" dirty="0">
                <a:latin typeface="Times New Roman"/>
                <a:cs typeface="Times New Roman"/>
              </a:rPr>
              <a:t>8</a:t>
            </a:r>
            <a:endParaRPr sz="1000">
              <a:latin typeface="Times New Roman"/>
              <a:cs typeface="Times New Roman"/>
            </a:endParaRPr>
          </a:p>
        </p:txBody>
      </p:sp>
      <p:sp>
        <p:nvSpPr>
          <p:cNvPr id="8" name="Rectangle 7"/>
          <p:cNvSpPr/>
          <p:nvPr/>
        </p:nvSpPr>
        <p:spPr>
          <a:xfrm>
            <a:off x="304800" y="304800"/>
            <a:ext cx="7086600" cy="9372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p:cNvSpPr txBox="1"/>
          <p:nvPr/>
        </p:nvSpPr>
        <p:spPr>
          <a:xfrm>
            <a:off x="381001" y="685801"/>
            <a:ext cx="7083991" cy="4524315"/>
          </a:xfrm>
          <a:prstGeom prst="rect">
            <a:avLst/>
          </a:prstGeom>
          <a:noFill/>
        </p:spPr>
        <p:txBody>
          <a:bodyPr wrap="none" rtlCol="0">
            <a:spAutoFit/>
          </a:bodyPr>
          <a:lstStyle/>
          <a:p>
            <a:pPr algn="l"/>
            <a:r>
              <a:rPr lang="en-US" dirty="0" smtClean="0"/>
              <a:t>● Appointment Table</a:t>
            </a:r>
          </a:p>
          <a:p>
            <a:pPr algn="l"/>
            <a:endParaRPr lang="en-US" dirty="0" smtClean="0"/>
          </a:p>
          <a:p>
            <a:pPr algn="l"/>
            <a:r>
              <a:rPr lang="en-US" b="1" dirty="0" smtClean="0"/>
              <a:t>        Fields                           </a:t>
            </a:r>
            <a:r>
              <a:rPr lang="en-US" b="1" dirty="0" err="1" smtClean="0"/>
              <a:t>Datatype</a:t>
            </a:r>
            <a:r>
              <a:rPr lang="en-US" b="1" dirty="0" smtClean="0"/>
              <a:t>                  Properties</a:t>
            </a:r>
          </a:p>
          <a:p>
            <a:pPr algn="l"/>
            <a:r>
              <a:rPr lang="en-US" dirty="0" smtClean="0"/>
              <a:t>       </a:t>
            </a:r>
            <a:r>
              <a:rPr lang="en-US" dirty="0" err="1" smtClean="0"/>
              <a:t>appointment_id</a:t>
            </a:r>
            <a:r>
              <a:rPr lang="en-US" dirty="0" smtClean="0"/>
              <a:t>               </a:t>
            </a:r>
            <a:r>
              <a:rPr lang="en-US" dirty="0" err="1" smtClean="0"/>
              <a:t>int</a:t>
            </a:r>
            <a:r>
              <a:rPr lang="en-US" dirty="0" smtClean="0"/>
              <a:t>                           </a:t>
            </a:r>
            <a:r>
              <a:rPr lang="en-US" dirty="0" err="1" smtClean="0"/>
              <a:t>PK,Auto</a:t>
            </a:r>
            <a:r>
              <a:rPr lang="en-US" dirty="0" smtClean="0"/>
              <a:t> Increment</a:t>
            </a:r>
          </a:p>
          <a:p>
            <a:pPr algn="l"/>
            <a:r>
              <a:rPr lang="en-US" dirty="0" smtClean="0"/>
              <a:t>       </a:t>
            </a:r>
            <a:r>
              <a:rPr lang="en-US" dirty="0" err="1" smtClean="0"/>
              <a:t>doctor_id</a:t>
            </a:r>
            <a:r>
              <a:rPr lang="en-US" dirty="0" smtClean="0"/>
              <a:t>                         </a:t>
            </a:r>
            <a:r>
              <a:rPr lang="en-US" dirty="0" err="1" smtClean="0"/>
              <a:t>int</a:t>
            </a:r>
            <a:r>
              <a:rPr lang="en-US" dirty="0" smtClean="0"/>
              <a:t>                           Foreign Key</a:t>
            </a:r>
          </a:p>
          <a:p>
            <a:pPr algn="l"/>
            <a:r>
              <a:rPr lang="en-US" dirty="0" smtClean="0"/>
              <a:t>       </a:t>
            </a:r>
            <a:r>
              <a:rPr lang="en-US" dirty="0" err="1" smtClean="0"/>
              <a:t>patient_id</a:t>
            </a:r>
            <a:r>
              <a:rPr lang="en-US" dirty="0" smtClean="0"/>
              <a:t>                         </a:t>
            </a:r>
            <a:r>
              <a:rPr lang="en-US" dirty="0" err="1" smtClean="0"/>
              <a:t>int</a:t>
            </a:r>
            <a:r>
              <a:rPr lang="en-US" dirty="0" smtClean="0"/>
              <a:t>                          </a:t>
            </a:r>
            <a:r>
              <a:rPr lang="en-US" dirty="0" err="1" smtClean="0"/>
              <a:t>Foreignt</a:t>
            </a:r>
            <a:r>
              <a:rPr lang="en-US" dirty="0" smtClean="0"/>
              <a:t> Key</a:t>
            </a:r>
          </a:p>
          <a:p>
            <a:pPr algn="l"/>
            <a:r>
              <a:rPr lang="en-US" dirty="0" smtClean="0"/>
              <a:t>        </a:t>
            </a:r>
            <a:r>
              <a:rPr lang="en-US" dirty="0" err="1" smtClean="0"/>
              <a:t>appointment_date</a:t>
            </a:r>
            <a:r>
              <a:rPr lang="en-US" dirty="0" smtClean="0"/>
              <a:t>          date                         not null</a:t>
            </a:r>
          </a:p>
          <a:p>
            <a:pPr algn="l"/>
            <a:r>
              <a:rPr lang="en-US" dirty="0"/>
              <a:t> </a:t>
            </a:r>
            <a:endParaRPr lang="en-US" dirty="0" smtClean="0"/>
          </a:p>
          <a:p>
            <a:pPr algn="l"/>
            <a:r>
              <a:rPr lang="en-US" dirty="0" smtClean="0"/>
              <a:t>●Room Table</a:t>
            </a:r>
          </a:p>
          <a:p>
            <a:pPr algn="l"/>
            <a:endParaRPr lang="en-US" dirty="0" smtClean="0"/>
          </a:p>
          <a:p>
            <a:pPr algn="l"/>
            <a:r>
              <a:rPr lang="en-US" b="1" dirty="0" smtClean="0"/>
              <a:t>        Fields                           </a:t>
            </a:r>
            <a:r>
              <a:rPr lang="en-US" b="1" dirty="0" err="1" smtClean="0"/>
              <a:t>Datatype</a:t>
            </a:r>
            <a:r>
              <a:rPr lang="en-US" b="1" dirty="0" smtClean="0"/>
              <a:t>                  Properties</a:t>
            </a:r>
          </a:p>
          <a:p>
            <a:pPr algn="l"/>
            <a:r>
              <a:rPr lang="en-US" dirty="0" smtClean="0"/>
              <a:t>       </a:t>
            </a:r>
            <a:r>
              <a:rPr lang="en-US" dirty="0" err="1" smtClean="0"/>
              <a:t>room_id</a:t>
            </a:r>
            <a:r>
              <a:rPr lang="en-US" dirty="0" smtClean="0"/>
              <a:t>                         </a:t>
            </a:r>
            <a:r>
              <a:rPr lang="en-US" dirty="0" err="1" smtClean="0"/>
              <a:t>int</a:t>
            </a:r>
            <a:r>
              <a:rPr lang="en-US" dirty="0" smtClean="0"/>
              <a:t>                           </a:t>
            </a:r>
            <a:r>
              <a:rPr lang="en-US" dirty="0" err="1" smtClean="0"/>
              <a:t>PK,Auto</a:t>
            </a:r>
            <a:r>
              <a:rPr lang="en-US" dirty="0" smtClean="0"/>
              <a:t> Increment</a:t>
            </a:r>
          </a:p>
          <a:p>
            <a:pPr algn="l"/>
            <a:r>
              <a:rPr lang="en-US" dirty="0" smtClean="0"/>
              <a:t>       </a:t>
            </a:r>
            <a:r>
              <a:rPr lang="en-US" dirty="0" err="1" smtClean="0"/>
              <a:t>staff_id</a:t>
            </a:r>
            <a:r>
              <a:rPr lang="en-US" dirty="0" smtClean="0"/>
              <a:t>                          </a:t>
            </a:r>
            <a:r>
              <a:rPr lang="en-US" dirty="0" err="1" smtClean="0"/>
              <a:t>int</a:t>
            </a:r>
            <a:r>
              <a:rPr lang="en-US" dirty="0" smtClean="0"/>
              <a:t>                            Foreign Key</a:t>
            </a:r>
          </a:p>
          <a:p>
            <a:pPr algn="l"/>
            <a:r>
              <a:rPr lang="en-US" dirty="0" smtClean="0"/>
              <a:t>       </a:t>
            </a:r>
            <a:r>
              <a:rPr lang="en-US" dirty="0" err="1" smtClean="0"/>
              <a:t>patient_id</a:t>
            </a:r>
            <a:r>
              <a:rPr lang="en-US" dirty="0" smtClean="0"/>
              <a:t>                       </a:t>
            </a:r>
            <a:r>
              <a:rPr lang="en-US" dirty="0" err="1" smtClean="0"/>
              <a:t>int</a:t>
            </a:r>
            <a:r>
              <a:rPr lang="en-US" dirty="0" smtClean="0"/>
              <a:t>                           </a:t>
            </a:r>
            <a:r>
              <a:rPr lang="en-US" dirty="0" err="1" smtClean="0"/>
              <a:t>Foreignt</a:t>
            </a:r>
            <a:r>
              <a:rPr lang="en-US" dirty="0" smtClean="0"/>
              <a:t> </a:t>
            </a:r>
            <a:r>
              <a:rPr lang="en-US" dirty="0" err="1" smtClean="0"/>
              <a:t>Ke</a:t>
            </a:r>
            <a:endParaRPr lang="en-US" dirty="0" smtClean="0"/>
          </a:p>
          <a:p>
            <a:pPr algn="l"/>
            <a:endParaRPr lang="en-US" dirty="0" smtClean="0"/>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0" y="381000"/>
            <a:ext cx="7772400" cy="423193"/>
          </a:xfrm>
          <a:prstGeom prst="rect">
            <a:avLst/>
          </a:prstGeom>
        </p:spPr>
        <p:txBody>
          <a:bodyPr vert="horz" wrap="square" lIns="0" tIns="114300" rIns="0" bIns="0" rtlCol="0">
            <a:spAutoFit/>
          </a:bodyPr>
          <a:lstStyle/>
          <a:p>
            <a:pPr marL="12700" algn="l">
              <a:lnSpc>
                <a:spcPct val="100000"/>
              </a:lnSpc>
              <a:spcBef>
                <a:spcPts val="900"/>
              </a:spcBef>
            </a:pPr>
            <a:r>
              <a:rPr lang="en-US" sz="2000" b="1" dirty="0" smtClean="0">
                <a:latin typeface="+mj-lt"/>
                <a:cs typeface="Cambria"/>
              </a:rPr>
              <a:t>        ER Diagram :-  </a:t>
            </a:r>
            <a:endParaRPr sz="2000" b="1">
              <a:latin typeface="+mj-lt"/>
              <a:cs typeface="Cambria"/>
            </a:endParaRPr>
          </a:p>
        </p:txBody>
      </p:sp>
      <p:sp>
        <p:nvSpPr>
          <p:cNvPr id="5" name="object 5"/>
          <p:cNvSpPr txBox="1"/>
          <p:nvPr/>
        </p:nvSpPr>
        <p:spPr>
          <a:xfrm>
            <a:off x="3660648" y="9603658"/>
            <a:ext cx="153035" cy="153888"/>
          </a:xfrm>
          <a:prstGeom prst="rect">
            <a:avLst/>
          </a:prstGeom>
        </p:spPr>
        <p:txBody>
          <a:bodyPr vert="horz" wrap="square" lIns="0" tIns="0" rIns="0" bIns="0" rtlCol="0">
            <a:spAutoFit/>
          </a:bodyPr>
          <a:lstStyle/>
          <a:p>
            <a:pPr marL="38100">
              <a:lnSpc>
                <a:spcPts val="1200"/>
              </a:lnSpc>
            </a:pPr>
            <a:r>
              <a:rPr sz="1000" spc="-50" dirty="0">
                <a:latin typeface="Times New Roman"/>
                <a:cs typeface="Times New Roman"/>
              </a:rPr>
              <a:t>9</a:t>
            </a:r>
            <a:endParaRPr sz="1000">
              <a:latin typeface="Times New Roman"/>
              <a:cs typeface="Times New Roman"/>
            </a:endParaRPr>
          </a:p>
        </p:txBody>
      </p:sp>
      <p:sp>
        <p:nvSpPr>
          <p:cNvPr id="6" name="Rectangle 5"/>
          <p:cNvSpPr/>
          <p:nvPr/>
        </p:nvSpPr>
        <p:spPr>
          <a:xfrm>
            <a:off x="304800" y="304800"/>
            <a:ext cx="7086600" cy="9372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ChatGPT Image Nov 27, 2025, 10_17_43 PM.png"/>
          <p:cNvPicPr>
            <a:picLocks noChangeAspect="1"/>
          </p:cNvPicPr>
          <p:nvPr/>
        </p:nvPicPr>
        <p:blipFill>
          <a:blip r:embed="rId2"/>
          <a:stretch>
            <a:fillRect/>
          </a:stretch>
        </p:blipFill>
        <p:spPr>
          <a:xfrm>
            <a:off x="381001" y="1295400"/>
            <a:ext cx="6934200" cy="5334000"/>
          </a:xfrm>
          <a:prstGeom prst="rect">
            <a:avLst/>
          </a:prstGeom>
        </p:spPr>
      </p:pic>
      <p:sp>
        <p:nvSpPr>
          <p:cNvPr id="8" name="TextBox 7"/>
          <p:cNvSpPr txBox="1"/>
          <p:nvPr/>
        </p:nvSpPr>
        <p:spPr>
          <a:xfrm>
            <a:off x="381001" y="6324601"/>
            <a:ext cx="2359941" cy="984885"/>
          </a:xfrm>
          <a:prstGeom prst="rect">
            <a:avLst/>
          </a:prstGeom>
          <a:noFill/>
        </p:spPr>
        <p:txBody>
          <a:bodyPr wrap="none" rtlCol="0">
            <a:spAutoFit/>
          </a:bodyPr>
          <a:lstStyle/>
          <a:p>
            <a:r>
              <a:rPr lang="en-US" sz="2000" b="1" dirty="0" smtClean="0">
                <a:latin typeface="+mj-lt"/>
              </a:rPr>
              <a:t>Data Flow Diagram:-</a:t>
            </a:r>
          </a:p>
          <a:p>
            <a:r>
              <a:rPr lang="en-US" sz="2000" b="1" dirty="0">
                <a:latin typeface="+mj-lt"/>
              </a:rPr>
              <a:t> </a:t>
            </a:r>
            <a:r>
              <a:rPr lang="en-US" sz="2000" b="1" dirty="0" smtClean="0">
                <a:latin typeface="+mj-lt"/>
              </a:rPr>
              <a:t>  </a:t>
            </a:r>
          </a:p>
          <a:p>
            <a:r>
              <a:rPr lang="en-US" b="1" dirty="0">
                <a:latin typeface="+mj-lt"/>
              </a:rPr>
              <a:t> </a:t>
            </a:r>
            <a:r>
              <a:rPr lang="en-US" b="1" dirty="0" smtClean="0">
                <a:latin typeface="+mj-lt"/>
              </a:rPr>
              <a:t> 1.  Zero-Level DFD:</a:t>
            </a:r>
            <a:endParaRPr lang="en-US" b="1" dirty="0">
              <a:latin typeface="+mj-lt"/>
            </a:endParaRPr>
          </a:p>
        </p:txBody>
      </p:sp>
      <p:pic>
        <p:nvPicPr>
          <p:cNvPr id="9" name="Picture 8" descr="314b1931-3ffe-4db1-af01-5c564671ba98.PNG"/>
          <p:cNvPicPr>
            <a:picLocks noChangeAspect="1"/>
          </p:cNvPicPr>
          <p:nvPr/>
        </p:nvPicPr>
        <p:blipFill>
          <a:blip r:embed="rId3"/>
          <a:stretch>
            <a:fillRect/>
          </a:stretch>
        </p:blipFill>
        <p:spPr>
          <a:xfrm>
            <a:off x="533400" y="6934200"/>
            <a:ext cx="6400800" cy="27432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xfrm>
            <a:off x="3712465" y="9525054"/>
            <a:ext cx="283209" cy="231057"/>
          </a:xfrm>
          <a:prstGeom prst="rect">
            <a:avLst/>
          </a:prstGeom>
        </p:spPr>
        <p:txBody>
          <a:bodyPr vert="horz" wrap="square" lIns="0" tIns="76422" rIns="0" bIns="0" rtlCol="0">
            <a:spAutoFit/>
          </a:bodyPr>
          <a:lstStyle/>
          <a:p>
            <a:pPr marL="62230">
              <a:lnSpc>
                <a:spcPct val="100000"/>
              </a:lnSpc>
              <a:spcBef>
                <a:spcPts val="240"/>
              </a:spcBef>
            </a:pPr>
            <a:r>
              <a:rPr spc="-25" dirty="0"/>
              <a:t>10</a:t>
            </a:r>
          </a:p>
        </p:txBody>
      </p:sp>
      <p:pic>
        <p:nvPicPr>
          <p:cNvPr id="6" name="Picture 5" descr="abc.PNG"/>
          <p:cNvPicPr>
            <a:picLocks noChangeAspect="1"/>
          </p:cNvPicPr>
          <p:nvPr/>
        </p:nvPicPr>
        <p:blipFill>
          <a:blip r:embed="rId2"/>
          <a:stretch>
            <a:fillRect/>
          </a:stretch>
        </p:blipFill>
        <p:spPr>
          <a:xfrm>
            <a:off x="381001" y="228601"/>
            <a:ext cx="6705600" cy="5181600"/>
          </a:xfrm>
          <a:prstGeom prst="rect">
            <a:avLst/>
          </a:prstGeom>
        </p:spPr>
      </p:pic>
      <p:sp>
        <p:nvSpPr>
          <p:cNvPr id="7" name="Rectangle 6"/>
          <p:cNvSpPr/>
          <p:nvPr/>
        </p:nvSpPr>
        <p:spPr>
          <a:xfrm>
            <a:off x="304800" y="304800"/>
            <a:ext cx="7086600" cy="9372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TextBox 8"/>
          <p:cNvSpPr txBox="1"/>
          <p:nvPr/>
        </p:nvSpPr>
        <p:spPr>
          <a:xfrm>
            <a:off x="2209800" y="5486400"/>
            <a:ext cx="2933816" cy="400110"/>
          </a:xfrm>
          <a:prstGeom prst="rect">
            <a:avLst/>
          </a:prstGeom>
          <a:noFill/>
        </p:spPr>
        <p:txBody>
          <a:bodyPr wrap="none" rtlCol="0">
            <a:spAutoFit/>
          </a:bodyPr>
          <a:lstStyle/>
          <a:p>
            <a:r>
              <a:rPr lang="en-US" sz="2000" b="1" dirty="0" smtClean="0"/>
              <a:t>Process Flow Diagram</a:t>
            </a:r>
            <a:endParaRPr lang="en-US" sz="2000" b="1" dirty="0"/>
          </a:p>
        </p:txBody>
      </p:sp>
      <p:pic>
        <p:nvPicPr>
          <p:cNvPr id="10" name="Picture 9" descr="WhatsApp Image 2025-11-27 at 23.33.30_65c30f71.jpg"/>
          <p:cNvPicPr>
            <a:picLocks noChangeAspect="1"/>
          </p:cNvPicPr>
          <p:nvPr/>
        </p:nvPicPr>
        <p:blipFill>
          <a:blip r:embed="rId3"/>
          <a:stretch>
            <a:fillRect/>
          </a:stretch>
        </p:blipFill>
        <p:spPr>
          <a:xfrm>
            <a:off x="533400" y="5867400"/>
            <a:ext cx="6477000" cy="3657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sldNum" sz="quarter" idx="7"/>
          </p:nvPr>
        </p:nvSpPr>
        <p:spPr>
          <a:xfrm>
            <a:off x="3712465" y="9525054"/>
            <a:ext cx="283209" cy="231057"/>
          </a:xfrm>
          <a:prstGeom prst="rect">
            <a:avLst/>
          </a:prstGeom>
        </p:spPr>
        <p:txBody>
          <a:bodyPr vert="horz" wrap="square" lIns="0" tIns="76422" rIns="0" bIns="0" rtlCol="0">
            <a:spAutoFit/>
          </a:bodyPr>
          <a:lstStyle/>
          <a:p>
            <a:pPr marL="62230">
              <a:lnSpc>
                <a:spcPct val="100000"/>
              </a:lnSpc>
              <a:spcBef>
                <a:spcPts val="240"/>
              </a:spcBef>
            </a:pPr>
            <a:r>
              <a:rPr spc="-25" dirty="0"/>
              <a:t>11</a:t>
            </a:r>
          </a:p>
        </p:txBody>
      </p:sp>
      <p:sp>
        <p:nvSpPr>
          <p:cNvPr id="2" name="object 2"/>
          <p:cNvSpPr txBox="1"/>
          <p:nvPr/>
        </p:nvSpPr>
        <p:spPr>
          <a:xfrm>
            <a:off x="609601" y="381000"/>
            <a:ext cx="5031740" cy="7915628"/>
          </a:xfrm>
          <a:prstGeom prst="rect">
            <a:avLst/>
          </a:prstGeom>
        </p:spPr>
        <p:txBody>
          <a:bodyPr vert="horz" wrap="square" lIns="0" tIns="92075" rIns="0" bIns="0" rtlCol="0">
            <a:spAutoFit/>
          </a:bodyPr>
          <a:lstStyle/>
          <a:p>
            <a:pPr marL="192405" algn="ctr">
              <a:lnSpc>
                <a:spcPct val="150000"/>
              </a:lnSpc>
              <a:spcBef>
                <a:spcPts val="725"/>
              </a:spcBef>
            </a:pPr>
            <a:r>
              <a:rPr lang="en-US" b="1" dirty="0" smtClean="0">
                <a:latin typeface="+mn-lt"/>
                <a:cs typeface="Times New Roman"/>
              </a:rPr>
              <a:t>              Platform Used</a:t>
            </a:r>
          </a:p>
          <a:p>
            <a:pPr marL="250190" indent="-237490" algn="l">
              <a:lnSpc>
                <a:spcPct val="150000"/>
              </a:lnSpc>
              <a:spcBef>
                <a:spcPts val="560"/>
              </a:spcBef>
              <a:buAutoNum type="arabicPeriod"/>
              <a:tabLst>
                <a:tab pos="250190" algn="l"/>
              </a:tabLst>
            </a:pPr>
            <a:r>
              <a:rPr lang="en-US" b="1" spc="75" dirty="0" smtClean="0">
                <a:latin typeface="+mn-lt"/>
                <a:cs typeface="Cambria"/>
              </a:rPr>
              <a:t>Hardware Requirement</a:t>
            </a:r>
            <a:endParaRPr smtClean="0">
              <a:latin typeface="+mn-lt"/>
              <a:cs typeface="Cambria"/>
            </a:endParaRPr>
          </a:p>
          <a:p>
            <a:pPr marL="121920" lvl="1" indent="-109220" algn="l">
              <a:lnSpc>
                <a:spcPct val="150000"/>
              </a:lnSpc>
              <a:spcBef>
                <a:spcPts val="840"/>
              </a:spcBef>
              <a:tabLst>
                <a:tab pos="121920" algn="l"/>
              </a:tabLst>
            </a:pPr>
            <a:r>
              <a:rPr lang="en-US" b="1" dirty="0"/>
              <a:t>● </a:t>
            </a:r>
            <a:r>
              <a:rPr lang="en-US" spc="170" dirty="0" err="1" smtClean="0">
                <a:latin typeface="+mn-lt"/>
                <a:cs typeface="Cambria"/>
              </a:rPr>
              <a:t>Processor:Intel</a:t>
            </a:r>
            <a:r>
              <a:rPr lang="en-US" spc="170" dirty="0" smtClean="0">
                <a:latin typeface="+mn-lt"/>
                <a:cs typeface="Cambria"/>
              </a:rPr>
              <a:t> i3 or higher</a:t>
            </a:r>
            <a:endParaRPr smtClean="0">
              <a:latin typeface="+mn-lt"/>
              <a:cs typeface="Cambria"/>
            </a:endParaRPr>
          </a:p>
          <a:p>
            <a:pPr marL="174625" lvl="1" indent="-161925" algn="l">
              <a:lnSpc>
                <a:spcPct val="150000"/>
              </a:lnSpc>
              <a:spcBef>
                <a:spcPts val="840"/>
              </a:spcBef>
              <a:tabLst>
                <a:tab pos="174625" algn="l"/>
              </a:tabLst>
            </a:pPr>
            <a:r>
              <a:rPr lang="en-US" b="1" dirty="0"/>
              <a:t>● </a:t>
            </a:r>
            <a:r>
              <a:rPr lang="en-US" dirty="0" smtClean="0">
                <a:latin typeface="+mn-lt"/>
                <a:cs typeface="Cambria"/>
              </a:rPr>
              <a:t>RAM :Minimum 4GB</a:t>
            </a:r>
            <a:endParaRPr smtClean="0">
              <a:latin typeface="+mn-lt"/>
              <a:cs typeface="Cambria"/>
            </a:endParaRPr>
          </a:p>
          <a:p>
            <a:pPr marL="174625" lvl="1" indent="-161925" algn="l">
              <a:lnSpc>
                <a:spcPct val="150000"/>
              </a:lnSpc>
              <a:spcBef>
                <a:spcPts val="840"/>
              </a:spcBef>
              <a:tabLst>
                <a:tab pos="174625" algn="l"/>
              </a:tabLst>
            </a:pPr>
            <a:r>
              <a:rPr lang="en-US" b="1" dirty="0"/>
              <a:t>● </a:t>
            </a:r>
            <a:r>
              <a:rPr lang="en-US" spc="125" dirty="0" err="1" smtClean="0">
                <a:latin typeface="+mn-lt"/>
                <a:cs typeface="Cambria"/>
              </a:rPr>
              <a:t>Display:Standard</a:t>
            </a:r>
            <a:r>
              <a:rPr lang="en-US" spc="125" dirty="0" smtClean="0">
                <a:latin typeface="+mn-lt"/>
                <a:cs typeface="Cambria"/>
              </a:rPr>
              <a:t> Monitor</a:t>
            </a:r>
            <a:endParaRPr smtClean="0">
              <a:latin typeface="+mn-lt"/>
              <a:cs typeface="Cambria"/>
            </a:endParaRPr>
          </a:p>
          <a:p>
            <a:pPr marL="12700" algn="l">
              <a:lnSpc>
                <a:spcPct val="150000"/>
              </a:lnSpc>
              <a:spcBef>
                <a:spcPts val="844"/>
              </a:spcBef>
            </a:pPr>
            <a:r>
              <a:rPr lang="en-US" b="1" spc="75" dirty="0" smtClean="0">
                <a:latin typeface="+mn-lt"/>
                <a:cs typeface="Cambria"/>
              </a:rPr>
              <a:t>2. Software Requirement</a:t>
            </a:r>
            <a:endParaRPr>
              <a:latin typeface="+mn-lt"/>
              <a:cs typeface="Cambria"/>
            </a:endParaRPr>
          </a:p>
          <a:p>
            <a:pPr marL="174625" lvl="1" indent="-161925" algn="l">
              <a:lnSpc>
                <a:spcPct val="150000"/>
              </a:lnSpc>
              <a:spcBef>
                <a:spcPts val="840"/>
              </a:spcBef>
              <a:tabLst>
                <a:tab pos="174625" algn="l"/>
              </a:tabLst>
            </a:pPr>
            <a:r>
              <a:rPr lang="en-US" b="1" dirty="0"/>
              <a:t>● </a:t>
            </a:r>
            <a:r>
              <a:rPr spc="235" smtClean="0">
                <a:latin typeface="+mn-lt"/>
                <a:cs typeface="Cambria"/>
              </a:rPr>
              <a:t>JDK</a:t>
            </a:r>
            <a:r>
              <a:rPr spc="160" smtClean="0">
                <a:latin typeface="+mn-lt"/>
                <a:cs typeface="Cambria"/>
              </a:rPr>
              <a:t> </a:t>
            </a:r>
            <a:r>
              <a:rPr spc="105" smtClean="0">
                <a:latin typeface="+mn-lt"/>
                <a:cs typeface="Cambria"/>
              </a:rPr>
              <a:t>(Java</a:t>
            </a:r>
            <a:r>
              <a:rPr spc="165" smtClean="0">
                <a:latin typeface="+mn-lt"/>
                <a:cs typeface="Cambria"/>
              </a:rPr>
              <a:t> </a:t>
            </a:r>
            <a:r>
              <a:rPr spc="65" smtClean="0">
                <a:latin typeface="+mn-lt"/>
                <a:cs typeface="Cambria"/>
              </a:rPr>
              <a:t>Development</a:t>
            </a:r>
            <a:r>
              <a:rPr spc="204" smtClean="0">
                <a:latin typeface="+mn-lt"/>
                <a:cs typeface="Cambria"/>
              </a:rPr>
              <a:t> </a:t>
            </a:r>
            <a:r>
              <a:rPr spc="-20" smtClean="0">
                <a:latin typeface="+mn-lt"/>
                <a:cs typeface="Cambria"/>
              </a:rPr>
              <a:t>Kit</a:t>
            </a:r>
            <a:endParaRPr lang="en-US" spc="-20" dirty="0" smtClean="0">
              <a:latin typeface="+mn-lt"/>
              <a:cs typeface="Cambria"/>
            </a:endParaRPr>
          </a:p>
          <a:p>
            <a:pPr marL="174625" lvl="1" indent="-161925" algn="l">
              <a:lnSpc>
                <a:spcPct val="150000"/>
              </a:lnSpc>
              <a:spcBef>
                <a:spcPts val="840"/>
              </a:spcBef>
              <a:tabLst>
                <a:tab pos="174625" algn="l"/>
              </a:tabLst>
            </a:pPr>
            <a:r>
              <a:rPr lang="en-US" b="1" dirty="0"/>
              <a:t>● </a:t>
            </a:r>
            <a:r>
              <a:rPr lang="en-US" spc="-20" dirty="0" smtClean="0">
                <a:latin typeface="+mn-lt"/>
                <a:cs typeface="Cambria"/>
              </a:rPr>
              <a:t>Database: </a:t>
            </a:r>
            <a:r>
              <a:rPr lang="en-US" spc="-20" dirty="0" err="1" smtClean="0">
                <a:latin typeface="+mn-lt"/>
                <a:cs typeface="Cambria"/>
              </a:rPr>
              <a:t>MySQL</a:t>
            </a:r>
            <a:r>
              <a:rPr lang="en-US" spc="-20" dirty="0" smtClean="0">
                <a:latin typeface="+mn-lt"/>
                <a:cs typeface="Cambria"/>
              </a:rPr>
              <a:t>/ SQL Server</a:t>
            </a:r>
            <a:endParaRPr lang="en-US" spc="-20" dirty="0">
              <a:latin typeface="+mn-lt"/>
              <a:cs typeface="Cambria"/>
            </a:endParaRPr>
          </a:p>
          <a:p>
            <a:pPr lvl="1" algn="l">
              <a:lnSpc>
                <a:spcPct val="150000"/>
              </a:lnSpc>
              <a:spcBef>
                <a:spcPts val="985"/>
              </a:spcBef>
            </a:pPr>
            <a:r>
              <a:rPr lang="en-US" b="1" dirty="0" smtClean="0"/>
              <a:t> ● </a:t>
            </a:r>
            <a:r>
              <a:rPr lang="en-US" dirty="0" err="1" smtClean="0">
                <a:latin typeface="+mn-lt"/>
                <a:cs typeface="Cambria"/>
              </a:rPr>
              <a:t>Tools:VS</a:t>
            </a:r>
            <a:r>
              <a:rPr lang="en-US" dirty="0" smtClean="0">
                <a:latin typeface="+mn-lt"/>
                <a:cs typeface="Cambria"/>
              </a:rPr>
              <a:t> Code/Eclipse/</a:t>
            </a:r>
            <a:r>
              <a:rPr lang="en-US" dirty="0" err="1" smtClean="0">
                <a:latin typeface="+mn-lt"/>
                <a:cs typeface="Cambria"/>
              </a:rPr>
              <a:t>intelij</a:t>
            </a:r>
            <a:endParaRPr lang="en-US" dirty="0" smtClean="0">
              <a:latin typeface="+mn-lt"/>
              <a:cs typeface="Cambria"/>
            </a:endParaRPr>
          </a:p>
          <a:p>
            <a:pPr lvl="1" algn="l">
              <a:lnSpc>
                <a:spcPct val="150000"/>
              </a:lnSpc>
              <a:spcBef>
                <a:spcPts val="985"/>
              </a:spcBef>
            </a:pPr>
            <a:r>
              <a:rPr lang="en-US" b="1" dirty="0"/>
              <a:t>● </a:t>
            </a:r>
            <a:r>
              <a:rPr lang="en-US" dirty="0" smtClean="0">
                <a:latin typeface="+mn-lt"/>
                <a:cs typeface="Cambria"/>
              </a:rPr>
              <a:t>Operating </a:t>
            </a:r>
            <a:r>
              <a:rPr lang="en-US" dirty="0" err="1" smtClean="0">
                <a:latin typeface="+mn-lt"/>
                <a:cs typeface="Cambria"/>
              </a:rPr>
              <a:t>System:Windows</a:t>
            </a:r>
            <a:r>
              <a:rPr lang="en-US" dirty="0" smtClean="0">
                <a:latin typeface="+mn-lt"/>
                <a:cs typeface="Cambria"/>
              </a:rPr>
              <a:t>/Linux</a:t>
            </a:r>
          </a:p>
          <a:p>
            <a:pPr lvl="1" algn="l">
              <a:lnSpc>
                <a:spcPct val="150000"/>
              </a:lnSpc>
              <a:spcBef>
                <a:spcPts val="985"/>
              </a:spcBef>
              <a:buFont typeface="Microsoft Sans Serif"/>
              <a:buChar char="•"/>
            </a:pPr>
            <a:endParaRPr lang="en-US" dirty="0" smtClean="0">
              <a:latin typeface="+mn-lt"/>
              <a:cs typeface="Cambria"/>
            </a:endParaRPr>
          </a:p>
          <a:p>
            <a:pPr lvl="1">
              <a:lnSpc>
                <a:spcPct val="150000"/>
              </a:lnSpc>
              <a:spcBef>
                <a:spcPts val="985"/>
              </a:spcBef>
              <a:buFont typeface="Microsoft Sans Serif"/>
              <a:buChar char="•"/>
            </a:pPr>
            <a:endParaRPr lang="en-US" dirty="0">
              <a:latin typeface="+mn-lt"/>
              <a:cs typeface="Cambria"/>
            </a:endParaRPr>
          </a:p>
          <a:p>
            <a:pPr lvl="1">
              <a:lnSpc>
                <a:spcPct val="150000"/>
              </a:lnSpc>
              <a:spcBef>
                <a:spcPts val="985"/>
              </a:spcBef>
              <a:buFont typeface="Microsoft Sans Serif"/>
              <a:buChar char="•"/>
            </a:pPr>
            <a:endParaRPr lang="en-US" dirty="0" smtClean="0">
              <a:latin typeface="+mn-lt"/>
              <a:cs typeface="Cambria"/>
            </a:endParaRPr>
          </a:p>
          <a:p>
            <a:pPr lvl="1">
              <a:lnSpc>
                <a:spcPct val="150000"/>
              </a:lnSpc>
              <a:spcBef>
                <a:spcPts val="985"/>
              </a:spcBef>
            </a:pPr>
            <a:endParaRPr lang="en-US" dirty="0" smtClean="0">
              <a:latin typeface="+mn-lt"/>
              <a:cs typeface="Cambria"/>
            </a:endParaRPr>
          </a:p>
          <a:p>
            <a:pPr lvl="1">
              <a:lnSpc>
                <a:spcPct val="150000"/>
              </a:lnSpc>
              <a:spcBef>
                <a:spcPts val="985"/>
              </a:spcBef>
              <a:buFont typeface="Microsoft Sans Serif"/>
              <a:buChar char="•"/>
            </a:pPr>
            <a:endParaRPr lang="en-US" dirty="0">
              <a:latin typeface="+mn-lt"/>
              <a:cs typeface="Cambria"/>
            </a:endParaRPr>
          </a:p>
        </p:txBody>
      </p:sp>
      <p:sp>
        <p:nvSpPr>
          <p:cNvPr id="4" name="Rectangle 3"/>
          <p:cNvSpPr/>
          <p:nvPr/>
        </p:nvSpPr>
        <p:spPr>
          <a:xfrm>
            <a:off x="304800" y="304800"/>
            <a:ext cx="7086600" cy="9372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p:cNvSpPr txBox="1"/>
          <p:nvPr/>
        </p:nvSpPr>
        <p:spPr>
          <a:xfrm>
            <a:off x="533400" y="5791202"/>
            <a:ext cx="6858000" cy="4521751"/>
          </a:xfrm>
          <a:prstGeom prst="rect">
            <a:avLst/>
          </a:prstGeom>
          <a:noFill/>
        </p:spPr>
        <p:txBody>
          <a:bodyPr wrap="square" rtlCol="0">
            <a:spAutoFit/>
          </a:bodyPr>
          <a:lstStyle/>
          <a:p>
            <a:pPr algn="ctr">
              <a:lnSpc>
                <a:spcPct val="150000"/>
              </a:lnSpc>
            </a:pPr>
            <a:r>
              <a:rPr lang="en-US" sz="2000" b="1" dirty="0" err="1" smtClean="0">
                <a:latin typeface="+mn-lt"/>
              </a:rPr>
              <a:t>FututreScope</a:t>
            </a:r>
            <a:endParaRPr lang="en-US" sz="2000" b="1" dirty="0" smtClean="0">
              <a:latin typeface="+mn-lt"/>
            </a:endParaRPr>
          </a:p>
          <a:p>
            <a:pPr marL="92075" indent="-79375">
              <a:lnSpc>
                <a:spcPct val="150000"/>
              </a:lnSpc>
              <a:spcBef>
                <a:spcPts val="720"/>
              </a:spcBef>
              <a:tabLst>
                <a:tab pos="92075" algn="l"/>
              </a:tabLst>
            </a:pPr>
            <a:r>
              <a:rPr lang="en-US" b="1" dirty="0"/>
              <a:t>● </a:t>
            </a:r>
            <a:r>
              <a:rPr lang="en-US" dirty="0" smtClean="0">
                <a:latin typeface="+mn-lt"/>
                <a:cs typeface="Arial MT"/>
              </a:rPr>
              <a:t>Online appointment</a:t>
            </a:r>
            <a:r>
              <a:rPr lang="en-US" spc="5" dirty="0" smtClean="0">
                <a:latin typeface="+mn-lt"/>
                <a:cs typeface="Arial MT"/>
              </a:rPr>
              <a:t> </a:t>
            </a:r>
            <a:r>
              <a:rPr lang="en-US" dirty="0" smtClean="0">
                <a:latin typeface="+mn-lt"/>
                <a:cs typeface="Arial MT"/>
              </a:rPr>
              <a:t>and</a:t>
            </a:r>
            <a:r>
              <a:rPr lang="en-US" spc="5" dirty="0" smtClean="0">
                <a:latin typeface="+mn-lt"/>
                <a:cs typeface="Arial MT"/>
              </a:rPr>
              <a:t> </a:t>
            </a:r>
            <a:r>
              <a:rPr lang="en-US" dirty="0" smtClean="0">
                <a:latin typeface="+mn-lt"/>
                <a:cs typeface="Arial MT"/>
              </a:rPr>
              <a:t>patient</a:t>
            </a:r>
            <a:r>
              <a:rPr lang="en-US" spc="5" dirty="0" smtClean="0">
                <a:latin typeface="+mn-lt"/>
                <a:cs typeface="Arial MT"/>
              </a:rPr>
              <a:t> </a:t>
            </a:r>
            <a:r>
              <a:rPr lang="en-US" spc="-10" dirty="0" smtClean="0">
                <a:latin typeface="+mn-lt"/>
                <a:cs typeface="Arial MT"/>
              </a:rPr>
              <a:t>portal</a:t>
            </a:r>
            <a:endParaRPr lang="en-US" dirty="0" smtClean="0">
              <a:latin typeface="+mn-lt"/>
              <a:cs typeface="Arial MT"/>
            </a:endParaRPr>
          </a:p>
          <a:p>
            <a:pPr marL="92075" indent="-79375">
              <a:lnSpc>
                <a:spcPct val="150000"/>
              </a:lnSpc>
              <a:tabLst>
                <a:tab pos="92075" algn="l"/>
              </a:tabLst>
            </a:pPr>
            <a:r>
              <a:rPr lang="en-US" b="1" dirty="0"/>
              <a:t>● </a:t>
            </a:r>
            <a:r>
              <a:rPr lang="en-US" dirty="0" smtClean="0">
                <a:latin typeface="+mn-lt"/>
                <a:cs typeface="Arial MT"/>
              </a:rPr>
              <a:t>Billing</a:t>
            </a:r>
            <a:r>
              <a:rPr lang="en-US" spc="5" dirty="0" smtClean="0">
                <a:latin typeface="+mn-lt"/>
                <a:cs typeface="Arial MT"/>
              </a:rPr>
              <a:t> </a:t>
            </a:r>
            <a:r>
              <a:rPr lang="en-US" dirty="0" smtClean="0">
                <a:latin typeface="+mn-lt"/>
                <a:cs typeface="Arial MT"/>
              </a:rPr>
              <a:t>and</a:t>
            </a:r>
            <a:r>
              <a:rPr lang="en-US" spc="5" dirty="0" smtClean="0">
                <a:latin typeface="+mn-lt"/>
                <a:cs typeface="Arial MT"/>
              </a:rPr>
              <a:t> </a:t>
            </a:r>
            <a:r>
              <a:rPr lang="en-US" dirty="0" smtClean="0">
                <a:latin typeface="+mn-lt"/>
                <a:cs typeface="Arial MT"/>
              </a:rPr>
              <a:t>insurance</a:t>
            </a:r>
            <a:r>
              <a:rPr lang="en-US" spc="5" dirty="0" smtClean="0">
                <a:latin typeface="+mn-lt"/>
                <a:cs typeface="Arial MT"/>
              </a:rPr>
              <a:t> </a:t>
            </a:r>
            <a:r>
              <a:rPr lang="en-US" spc="-10" dirty="0" smtClean="0">
                <a:latin typeface="+mn-lt"/>
                <a:cs typeface="Arial MT"/>
              </a:rPr>
              <a:t>integration</a:t>
            </a:r>
            <a:endParaRPr lang="en-US" dirty="0" smtClean="0">
              <a:latin typeface="+mn-lt"/>
              <a:cs typeface="Arial MT"/>
            </a:endParaRPr>
          </a:p>
          <a:p>
            <a:pPr marL="92075" indent="-79375">
              <a:lnSpc>
                <a:spcPct val="150000"/>
              </a:lnSpc>
              <a:tabLst>
                <a:tab pos="92075" algn="l"/>
              </a:tabLst>
            </a:pPr>
            <a:r>
              <a:rPr lang="en-US" b="1" dirty="0"/>
              <a:t>● </a:t>
            </a:r>
            <a:r>
              <a:rPr lang="en-US" dirty="0" smtClean="0">
                <a:latin typeface="+mn-lt"/>
                <a:cs typeface="Arial MT"/>
              </a:rPr>
              <a:t>SMS/Email </a:t>
            </a:r>
            <a:r>
              <a:rPr lang="en-US" spc="-10" dirty="0" smtClean="0">
                <a:latin typeface="+mn-lt"/>
                <a:cs typeface="Arial MT"/>
              </a:rPr>
              <a:t>alerts</a:t>
            </a:r>
            <a:endParaRPr lang="en-US" dirty="0" smtClean="0">
              <a:latin typeface="+mn-lt"/>
              <a:cs typeface="Arial MT"/>
            </a:endParaRPr>
          </a:p>
          <a:p>
            <a:pPr marL="92075" indent="-79375">
              <a:lnSpc>
                <a:spcPct val="150000"/>
              </a:lnSpc>
              <a:tabLst>
                <a:tab pos="92075" algn="l"/>
              </a:tabLst>
            </a:pPr>
            <a:r>
              <a:rPr lang="en-US" b="1" dirty="0"/>
              <a:t>● </a:t>
            </a:r>
            <a:r>
              <a:rPr lang="en-US" dirty="0" smtClean="0">
                <a:latin typeface="+mn-lt"/>
                <a:cs typeface="Arial MT"/>
              </a:rPr>
              <a:t>Online prescription</a:t>
            </a:r>
            <a:r>
              <a:rPr lang="en-US" spc="5" dirty="0" smtClean="0">
                <a:latin typeface="+mn-lt"/>
                <a:cs typeface="Arial MT"/>
              </a:rPr>
              <a:t> </a:t>
            </a:r>
            <a:r>
              <a:rPr lang="en-US" dirty="0" smtClean="0">
                <a:latin typeface="+mn-lt"/>
                <a:cs typeface="Arial MT"/>
              </a:rPr>
              <a:t>and</a:t>
            </a:r>
            <a:r>
              <a:rPr lang="en-US" spc="5" dirty="0" smtClean="0">
                <a:latin typeface="+mn-lt"/>
                <a:cs typeface="Arial MT"/>
              </a:rPr>
              <a:t> </a:t>
            </a:r>
            <a:r>
              <a:rPr lang="en-US" dirty="0" smtClean="0">
                <a:latin typeface="+mn-lt"/>
                <a:cs typeface="Arial MT"/>
              </a:rPr>
              <a:t>medical</a:t>
            </a:r>
            <a:r>
              <a:rPr lang="en-US" spc="5" dirty="0" smtClean="0">
                <a:latin typeface="+mn-lt"/>
                <a:cs typeface="Arial MT"/>
              </a:rPr>
              <a:t> </a:t>
            </a:r>
            <a:r>
              <a:rPr lang="en-US" spc="-10" dirty="0" smtClean="0">
                <a:latin typeface="+mn-lt"/>
                <a:cs typeface="Arial MT"/>
              </a:rPr>
              <a:t>reports</a:t>
            </a:r>
            <a:endParaRPr lang="en-US" dirty="0" smtClean="0">
              <a:latin typeface="+mn-lt"/>
              <a:cs typeface="Arial MT"/>
            </a:endParaRPr>
          </a:p>
          <a:p>
            <a:pPr marL="92075" indent="-79375">
              <a:lnSpc>
                <a:spcPct val="150000"/>
              </a:lnSpc>
              <a:tabLst>
                <a:tab pos="92075" algn="l"/>
              </a:tabLst>
            </a:pPr>
            <a:r>
              <a:rPr lang="en-US" b="1" dirty="0"/>
              <a:t>● </a:t>
            </a:r>
            <a:r>
              <a:rPr lang="en-US" dirty="0" smtClean="0">
                <a:latin typeface="+mn-lt"/>
                <a:cs typeface="Arial MT"/>
              </a:rPr>
              <a:t>Mobile</a:t>
            </a:r>
            <a:r>
              <a:rPr lang="en-US" spc="5" dirty="0" smtClean="0">
                <a:latin typeface="+mn-lt"/>
                <a:cs typeface="Arial MT"/>
              </a:rPr>
              <a:t> </a:t>
            </a:r>
            <a:r>
              <a:rPr lang="en-US" dirty="0" smtClean="0">
                <a:latin typeface="+mn-lt"/>
                <a:cs typeface="Arial MT"/>
              </a:rPr>
              <a:t>app</a:t>
            </a:r>
            <a:r>
              <a:rPr lang="en-US" spc="10" dirty="0" smtClean="0">
                <a:latin typeface="+mn-lt"/>
                <a:cs typeface="Arial MT"/>
              </a:rPr>
              <a:t> </a:t>
            </a:r>
            <a:r>
              <a:rPr lang="en-US" spc="-10" dirty="0" smtClean="0">
                <a:latin typeface="+mn-lt"/>
                <a:cs typeface="Arial MT"/>
              </a:rPr>
              <a:t>integration</a:t>
            </a:r>
            <a:endParaRPr lang="en-US" dirty="0" smtClean="0">
              <a:latin typeface="+mn-lt"/>
              <a:cs typeface="Arial MT"/>
            </a:endParaRPr>
          </a:p>
          <a:p>
            <a:pPr marL="92075" indent="-79375">
              <a:lnSpc>
                <a:spcPct val="150000"/>
              </a:lnSpc>
              <a:tabLst>
                <a:tab pos="92075" algn="l"/>
              </a:tabLst>
            </a:pPr>
            <a:r>
              <a:rPr lang="en-US" b="1" dirty="0"/>
              <a:t>● </a:t>
            </a:r>
            <a:r>
              <a:rPr lang="en-US" dirty="0" smtClean="0">
                <a:latin typeface="+mn-lt"/>
                <a:cs typeface="Arial MT"/>
              </a:rPr>
              <a:t>AI-based diagnosis </a:t>
            </a:r>
            <a:r>
              <a:rPr lang="en-US" spc="-10" dirty="0" smtClean="0">
                <a:latin typeface="+mn-lt"/>
                <a:cs typeface="Arial MT"/>
              </a:rPr>
              <a:t>support</a:t>
            </a:r>
            <a:endParaRPr lang="en-US" dirty="0" smtClean="0">
              <a:latin typeface="+mn-lt"/>
              <a:cs typeface="Arial MT"/>
            </a:endParaRPr>
          </a:p>
          <a:p>
            <a:pPr>
              <a:lnSpc>
                <a:spcPct val="150000"/>
              </a:lnSpc>
              <a:buFont typeface="Arial MT"/>
              <a:buChar char="•"/>
            </a:pPr>
            <a:endParaRPr lang="en-US" sz="2000" dirty="0" smtClean="0">
              <a:latin typeface="+mn-lt"/>
              <a:cs typeface="Arial MT"/>
            </a:endParaRPr>
          </a:p>
          <a:p>
            <a:pPr>
              <a:lnSpc>
                <a:spcPct val="150000"/>
              </a:lnSpc>
              <a:buFont typeface="Arial MT"/>
              <a:buChar char="•"/>
            </a:pPr>
            <a:endParaRPr lang="en-US" sz="2000" dirty="0" smtClean="0">
              <a:latin typeface="+mn-lt"/>
              <a:cs typeface="Arial MT"/>
            </a:endParaRPr>
          </a:p>
          <a:p>
            <a:pPr algn="ctr">
              <a:lnSpc>
                <a:spcPct val="150000"/>
              </a:lnSpc>
            </a:pPr>
            <a:endParaRPr lang="en-US" sz="2000" b="1" dirty="0" smtClean="0">
              <a:latin typeface="+mn-l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066800" y="838200"/>
            <a:ext cx="5166360" cy="3707425"/>
          </a:xfrm>
          <a:prstGeom prst="rect">
            <a:avLst/>
          </a:prstGeom>
        </p:spPr>
        <p:txBody>
          <a:bodyPr vert="horz" wrap="square" lIns="0" tIns="13970" rIns="0" bIns="0" rtlCol="0">
            <a:spAutoFit/>
          </a:bodyPr>
          <a:lstStyle/>
          <a:p>
            <a:pPr marL="2185670">
              <a:lnSpc>
                <a:spcPct val="200000"/>
              </a:lnSpc>
              <a:spcBef>
                <a:spcPts val="110"/>
              </a:spcBef>
            </a:pPr>
            <a:r>
              <a:rPr lang="en-US" sz="2000" b="1" spc="-10" dirty="0" smtClean="0">
                <a:latin typeface="+mj-lt"/>
                <a:cs typeface="Times New Roman"/>
              </a:rPr>
              <a:t>BIBLIOGRAPHY</a:t>
            </a:r>
            <a:endParaRPr sz="2000">
              <a:latin typeface="+mj-lt"/>
              <a:cs typeface="Times New Roman"/>
            </a:endParaRPr>
          </a:p>
          <a:p>
            <a:pPr marL="12700" marR="541020" indent="167005">
              <a:lnSpc>
                <a:spcPct val="200000"/>
              </a:lnSpc>
              <a:buSzPct val="92857"/>
              <a:tabLst>
                <a:tab pos="179705" algn="l"/>
              </a:tabLst>
            </a:pPr>
            <a:r>
              <a:rPr lang="en-US" sz="1400" b="1" dirty="0" smtClean="0"/>
              <a:t> </a:t>
            </a:r>
            <a:r>
              <a:rPr lang="en-US" sz="2000" b="1" dirty="0"/>
              <a:t>● </a:t>
            </a:r>
            <a:r>
              <a:rPr lang="en-US" sz="2000" dirty="0" smtClean="0">
                <a:latin typeface="+mn-lt"/>
              </a:rPr>
              <a:t>Oracle Java </a:t>
            </a:r>
            <a:r>
              <a:rPr lang="en-US" sz="2000" dirty="0" err="1" smtClean="0">
                <a:latin typeface="+mn-lt"/>
              </a:rPr>
              <a:t>Documantation</a:t>
            </a:r>
            <a:endParaRPr lang="en-US" sz="2000" dirty="0" smtClean="0">
              <a:latin typeface="+mn-lt"/>
            </a:endParaRPr>
          </a:p>
          <a:p>
            <a:pPr marL="12700" marR="541020" indent="167005">
              <a:lnSpc>
                <a:spcPct val="200000"/>
              </a:lnSpc>
              <a:buSzPct val="92857"/>
              <a:tabLst>
                <a:tab pos="179705" algn="l"/>
              </a:tabLst>
            </a:pPr>
            <a:r>
              <a:rPr lang="en-US" sz="2000" b="1" dirty="0" smtClean="0">
                <a:latin typeface="+mn-lt"/>
              </a:rPr>
              <a:t>● </a:t>
            </a:r>
            <a:r>
              <a:rPr lang="en-US" sz="2000" dirty="0" err="1" smtClean="0">
                <a:latin typeface="+mn-lt"/>
              </a:rPr>
              <a:t>MySQL</a:t>
            </a:r>
            <a:r>
              <a:rPr lang="en-US" sz="2000" dirty="0" smtClean="0">
                <a:latin typeface="+mn-lt"/>
              </a:rPr>
              <a:t> Official </a:t>
            </a:r>
            <a:r>
              <a:rPr lang="en-US" sz="2000" dirty="0" err="1" smtClean="0">
                <a:latin typeface="+mn-lt"/>
              </a:rPr>
              <a:t>Documantation</a:t>
            </a:r>
            <a:r>
              <a:rPr sz="2000" spc="80" smtClean="0">
                <a:latin typeface="+mn-lt"/>
                <a:cs typeface="Cambria"/>
              </a:rPr>
              <a:t>.</a:t>
            </a:r>
            <a:endParaRPr lang="en-US" sz="2000" spc="80" dirty="0" smtClean="0">
              <a:latin typeface="+mn-lt"/>
              <a:cs typeface="Cambria"/>
            </a:endParaRPr>
          </a:p>
          <a:p>
            <a:pPr marL="12700" marR="541020" indent="167005">
              <a:lnSpc>
                <a:spcPct val="200000"/>
              </a:lnSpc>
              <a:buSzPct val="92857"/>
              <a:tabLst>
                <a:tab pos="179705" algn="l"/>
              </a:tabLst>
            </a:pPr>
            <a:r>
              <a:rPr lang="en-US" sz="2000" b="1" dirty="0" smtClean="0">
                <a:latin typeface="+mn-lt"/>
              </a:rPr>
              <a:t>● </a:t>
            </a:r>
            <a:r>
              <a:rPr lang="en-US" sz="2000" dirty="0" smtClean="0">
                <a:latin typeface="+mn-lt"/>
              </a:rPr>
              <a:t>JDBC API Guide</a:t>
            </a:r>
          </a:p>
          <a:p>
            <a:pPr marL="12700" marR="541020" indent="167005">
              <a:lnSpc>
                <a:spcPct val="200000"/>
              </a:lnSpc>
              <a:buSzPct val="92857"/>
              <a:tabLst>
                <a:tab pos="179705" algn="l"/>
              </a:tabLst>
            </a:pPr>
            <a:r>
              <a:rPr lang="en-US" sz="2000" dirty="0" smtClean="0">
                <a:latin typeface="+mn-lt"/>
              </a:rPr>
              <a:t>● </a:t>
            </a:r>
            <a:r>
              <a:rPr lang="en-US" sz="2000" dirty="0" err="1" smtClean="0">
                <a:latin typeface="+mn-lt"/>
              </a:rPr>
              <a:t>Refrence</a:t>
            </a:r>
            <a:r>
              <a:rPr lang="en-US" sz="2000" dirty="0" smtClean="0">
                <a:latin typeface="+mn-lt"/>
              </a:rPr>
              <a:t> books on DBMS and Java</a:t>
            </a:r>
          </a:p>
          <a:p>
            <a:pPr marL="12700" marR="541020" indent="167005">
              <a:lnSpc>
                <a:spcPct val="200000"/>
              </a:lnSpc>
              <a:buSzPct val="92857"/>
              <a:tabLst>
                <a:tab pos="179705" algn="l"/>
              </a:tabLst>
            </a:pPr>
            <a:r>
              <a:rPr lang="en-US" sz="2000" dirty="0" smtClean="0">
                <a:latin typeface="+mn-lt"/>
              </a:rPr>
              <a:t>●Online Educational Resources</a:t>
            </a:r>
            <a:endParaRPr sz="2000">
              <a:latin typeface="+mn-lt"/>
              <a:cs typeface="Cambria"/>
            </a:endParaRPr>
          </a:p>
        </p:txBody>
      </p:sp>
      <p:sp>
        <p:nvSpPr>
          <p:cNvPr id="3" name="object 3"/>
          <p:cNvSpPr txBox="1"/>
          <p:nvPr/>
        </p:nvSpPr>
        <p:spPr>
          <a:xfrm>
            <a:off x="3762247" y="9358985"/>
            <a:ext cx="147320" cy="167354"/>
          </a:xfrm>
          <a:prstGeom prst="rect">
            <a:avLst/>
          </a:prstGeom>
        </p:spPr>
        <p:txBody>
          <a:bodyPr vert="horz" wrap="square" lIns="0" tIns="13335" rIns="0" bIns="0" rtlCol="0">
            <a:spAutoFit/>
          </a:bodyPr>
          <a:lstStyle/>
          <a:p>
            <a:pPr marL="12700">
              <a:lnSpc>
                <a:spcPct val="100000"/>
              </a:lnSpc>
              <a:spcBef>
                <a:spcPts val="105"/>
              </a:spcBef>
            </a:pPr>
            <a:r>
              <a:rPr sz="1000" spc="-25" dirty="0">
                <a:latin typeface="Times New Roman"/>
                <a:cs typeface="Times New Roman"/>
              </a:rPr>
              <a:t>16</a:t>
            </a:r>
            <a:endParaRPr sz="1000">
              <a:latin typeface="Times New Roman"/>
              <a:cs typeface="Times New Roman"/>
            </a:endParaRPr>
          </a:p>
        </p:txBody>
      </p:sp>
      <p:sp>
        <p:nvSpPr>
          <p:cNvPr id="4" name="Rectangle 3"/>
          <p:cNvSpPr/>
          <p:nvPr/>
        </p:nvSpPr>
        <p:spPr>
          <a:xfrm>
            <a:off x="304800" y="304800"/>
            <a:ext cx="7086600" cy="937260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291</TotalTime>
  <Words>1192</Words>
  <Application>Microsoft Office PowerPoint</Application>
  <PresentationFormat>Custom</PresentationFormat>
  <Paragraphs>228</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Dell</dc:creator>
  <cp:lastModifiedBy>Dell</cp:lastModifiedBy>
  <cp:revision>31</cp:revision>
  <dcterms:created xsi:type="dcterms:W3CDTF">2025-11-27T11:32:15Z</dcterms:created>
  <dcterms:modified xsi:type="dcterms:W3CDTF">2025-11-28T06:13:44Z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2025-11-16T00:00:00Z</vt:filetime>
  </property>
  <property fmtid="{D5CDD505-2E9C-101B-9397-08002B2CF9AE}" pid="3" name="Creator">
    <vt:lpwstr>Microsoft® PowerPoint® 2016</vt:lpwstr>
  </property>
  <property fmtid="{D5CDD505-2E9C-101B-9397-08002B2CF9AE}" pid="4" name="LastSaved">
    <vt:filetime>2025-11-27T00:00:00Z</vt:filetime>
  </property>
  <property fmtid="{D5CDD505-2E9C-101B-9397-08002B2CF9AE}" pid="5" name="Producer">
    <vt:lpwstr>www.ilovepdf.com</vt:lpwstr>
  </property>
</Properties>
</file>